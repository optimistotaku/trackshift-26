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29816feef347b0" /><Relationship Type="http://schemas.openxmlformats.org/officeDocument/2006/relationships/extended-properties" Target="/docProps/app.xml" Id="R735c579d60694252" /><Relationship Type="http://schemas.openxmlformats.org/officeDocument/2006/relationships/officeDocument" Target="/ppt/presentation.xml" Id="R6c83dffdc837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e53ebc66bf482c"/>
  </p:sldMasterIdLst>
  <p:notesMasterIdLst>
    <p:notesMasterId xmlns:r="http://schemas.openxmlformats.org/officeDocument/2006/relationships" r:id="Raf8ac8aa61a74991"/>
  </p:notesMasterIdLst>
  <p:sldIdLst>
    <p:sldId xmlns:r="http://schemas.openxmlformats.org/officeDocument/2006/relationships" id="256" r:id="Rea491b0f6b084342"/>
    <p:sldId xmlns:r="http://schemas.openxmlformats.org/officeDocument/2006/relationships" id="257" r:id="Rc1490d362d3e4bea"/>
    <p:sldId xmlns:r="http://schemas.openxmlformats.org/officeDocument/2006/relationships" id="258" r:id="R3fd49039ab974eba"/>
    <p:sldId xmlns:r="http://schemas.openxmlformats.org/officeDocument/2006/relationships" id="259" r:id="R95d143b8b55547c1"/>
    <p:sldId xmlns:r="http://schemas.openxmlformats.org/officeDocument/2006/relationships" id="260" r:id="R249423b424e6400c"/>
    <p:sldId xmlns:r="http://schemas.openxmlformats.org/officeDocument/2006/relationships" id="261" r:id="R206dc145790842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6eb57ac38942f3" /><Relationship Type="http://schemas.openxmlformats.org/officeDocument/2006/relationships/slideMaster" Target="/ppt/slideMasters/slideMaster1.xml" Id="Rd9e53ebc66bf482c" /><Relationship Type="http://schemas.openxmlformats.org/officeDocument/2006/relationships/notesMaster" Target="/ppt/notesMasters/notesMaster1.xml" Id="Raf8ac8aa61a74991" /><Relationship Type="http://schemas.openxmlformats.org/officeDocument/2006/relationships/presProps" Target="/ppt/presProps.xml" Id="Rda39db8f00c04bf7" /><Relationship Type="http://schemas.openxmlformats.org/officeDocument/2006/relationships/tableStyles" Target="/ppt/tableStyles.xml" Id="R4edb4e990ae047b5" /><Relationship Type="http://schemas.openxmlformats.org/officeDocument/2006/relationships/slide" Target="/ppt/slides/slide1.xml" Id="Rea491b0f6b084342" /><Relationship Type="http://schemas.openxmlformats.org/officeDocument/2006/relationships/slide" Target="/ppt/slides/slide2.xml" Id="Rc1490d362d3e4bea" /><Relationship Type="http://schemas.openxmlformats.org/officeDocument/2006/relationships/slide" Target="/ppt/slides/slide3.xml" Id="R3fd49039ab974eba" /><Relationship Type="http://schemas.openxmlformats.org/officeDocument/2006/relationships/slide" Target="/ppt/slides/slide4.xml" Id="R95d143b8b55547c1" /><Relationship Type="http://schemas.openxmlformats.org/officeDocument/2006/relationships/slide" Target="/ppt/slides/slide5.xml" Id="R249423b424e6400c" /><Relationship Type="http://schemas.openxmlformats.org/officeDocument/2006/relationships/slide" Target="/ppt/slides/slide6.xml" Id="R206dc145790842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1ae3591fdf4a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021ec26edb436c" /><Relationship Type="http://schemas.openxmlformats.org/officeDocument/2006/relationships/notesMaster" Target="/ppt/notesMasters/notesMaster1.xml" Id="Rb14d321c56b041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a83b3782a14d78" /><Relationship Type="http://schemas.openxmlformats.org/officeDocument/2006/relationships/notesMaster" Target="/ppt/notesMasters/notesMaster1.xml" Id="R9d097cffc48441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1bc01c88804f63" /><Relationship Type="http://schemas.openxmlformats.org/officeDocument/2006/relationships/notesMaster" Target="/ppt/notesMasters/notesMaster1.xml" Id="R3b9b5f5470a34b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c72ce90be446d5" /><Relationship Type="http://schemas.openxmlformats.org/officeDocument/2006/relationships/notesMaster" Target="/ppt/notesMasters/notesMaster1.xml" Id="Rc09be5d9c2d24b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cf106842c646a4" /><Relationship Type="http://schemas.openxmlformats.org/officeDocument/2006/relationships/notesMaster" Target="/ppt/notesMasters/notesMaster1.xml" Id="R8702497c1a1740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db7b08c1344ee9" /><Relationship Type="http://schemas.openxmlformats.org/officeDocument/2006/relationships/notesMaster" Target="/ppt/notesMasters/notesMaster1.xml" Id="R438f3d0d239346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PITWALL / TrackShift 2026. Present the app using Present to jury. This deck accompanies the working local demo; all metrics come from artifacts/demo/intelligence/*.json. Do not claim a validated optimal pit lap or places gained.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artifacts/demo/model.json → degradation_curves.practice.compounds.HARD. Slopes evaluated at tyre age 10. Historical research artifacts predate the replay traffic correction. The practice-to-race transfer failed; these are identification evidence, not deployed physical wear estimates.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artifacts/demo/intelligence/R11.json. Snapshot NOR / lap 25 / horizon 3; target lap 28. Demo example uses the pre-existing default cursor, not a search for best error. Prediction 85.066332; actual 85.071; persistence 84.973. One example is not an accuracy claim. In app: Present to jury → Predict &amp; verify → Advance to lap 28 &amp;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artifacts/demo/intelligence/R11.json stop_scenarios.HARD and battles[horizon=3] at NOR lap25. Scenario: 1.5s gap, 0.7s warm-up, equal service, zero extra degradation, both cars stop. Central margin = 3*1.315561 - 0.078218 -1.5 -0.7 =1.668465s. Adding 2s total rejoin traffic gives -0.331535s. Combined stress radius =3*2.032157 +2.497010 =8.593481s. Conditional arithmetic, no validated overtake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artifacts/demo/intelligence/report.json and battle_report.json. Pace RMSE on 6831 forecasts; relative-time RMSE on3128 forecasts. All later-race results use earlier-race fits. Architectures selected using development events; R09-R12 are reused evaluation events. Forecasts assume same-stint green running.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current local application demo_fallback/index.html; docs/JURY_PRESENTATION.md; artifacts/demo/intelligence/*.json. Use the app four-chapter walkthrough. Strong claims are forecast accuracy and inspectable scenario arithmetic; physical tyre life, actual race time saved and positions won remain unproven.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97a147ee3842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e1f10674e846d0" /><Relationship Type="http://schemas.openxmlformats.org/officeDocument/2006/relationships/slideLayout" Target="/ppt/slideLayouts/slideLayout1.xml" Id="R7b4463927f7241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4463927f7241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1d70cdd934cf4" /><Relationship Type="http://schemas.openxmlformats.org/officeDocument/2006/relationships/notesSlide" Target="/ppt/notesSlides/notesSlide1.xml" Id="R8d0b244dccf440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516e4419249a6" /><Relationship Type="http://schemas.openxmlformats.org/officeDocument/2006/relationships/notesSlide" Target="/ppt/notesSlides/notesSlide2.xml" Id="R46f80177350249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7e94ce540415a" /><Relationship Type="http://schemas.openxmlformats.org/officeDocument/2006/relationships/notesSlide" Target="/ppt/notesSlides/notesSlide3.xml" Id="R84336ec91fc946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92fae300d47a7" /><Relationship Type="http://schemas.openxmlformats.org/officeDocument/2006/relationships/notesSlide" Target="/ppt/notesSlides/notesSlide4.xml" Id="Rec590f9d20694f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fc962ed244a6a" /><Relationship Type="http://schemas.openxmlformats.org/officeDocument/2006/relationships/chart" Target="/ppt/slides/charts/chart1.xml" Id="Rf296ee69f40348b0" /><Relationship Type="http://schemas.openxmlformats.org/officeDocument/2006/relationships/notesSlide" Target="/ppt/notesSlides/notesSlide5.xml" Id="R05cbc0835aac46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83b466c5b4d2e" /><Relationship Type="http://schemas.openxmlformats.org/officeDocument/2006/relationships/notesSlide" Target="/ppt/notesSlides/notesSlide6.xml" Id="Rd00a7fa0180747e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PITWALL</c:v>
          </c:tx>
          <c:spPr>
            <a:solidFill xmlns:a="http://schemas.openxmlformats.org/drawingml/2006/main">
              <a:srgbClr val="E6FC74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EDF0ED"/>
                        </a:solidFill>
                        <a:latin typeface="Bahnschrift"/>
                        <a:ea typeface="Bahnschrift"/>
                        <a:cs typeface="Bahnschrift"/>
                      </a:rPr>
                      <a:t>0.743s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EDF0ED"/>
                      </a:solidFill>
                      <a:latin typeface="Bahnschrift"/>
                      <a:ea typeface="Bahnschrift"/>
                      <a:cs typeface="Bahnschrif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EDF0ED"/>
                        </a:solidFill>
                        <a:latin typeface="Bahnschrift"/>
                        <a:ea typeface="Bahnschrift"/>
                        <a:cs typeface="Bahnschrift"/>
                      </a:rPr>
                      <a:t>2.197s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EDF0ED"/>
                      </a:solidFill>
                      <a:latin typeface="Bahnschrift"/>
                      <a:ea typeface="Bahnschrift"/>
                      <a:cs typeface="Bahnschrif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Data'!$A$2:$A$3</c:f>
              <c:strCache>
                <c:ptCount val="2"/>
                <c:pt idx="0">
                  <c:v>Pace forecast</c:v>
                </c:pt>
                <c:pt idx="1">
                  <c:v>Rival-time forecast</c:v>
                </c:pt>
              </c:strCache>
            </c:strRef>
          </c:cat>
          <c:val>
            <c:numRef>
              <c:f>'Chart Data'!$B$2:$B$3</c:f>
              <c:numCache>
                <c:formatCode>0.0"s"</c:formatCode>
                <c:ptCount val="2"/>
                <c:pt idx="0">
                  <c:v>0.742818</c:v>
                </c:pt>
                <c:pt idx="1">
                  <c:v>2.197121</c:v>
                </c:pt>
              </c:numCache>
            </c:numRef>
          </c:val>
        </c:ser>
        <c:ser>
          <c:idx val="1"/>
          <c:order val="1"/>
          <c:tx>
            <c:v>Baseline</c:v>
          </c:tx>
          <c:spPr>
            <a:solidFill xmlns:a="http://schemas.openxmlformats.org/drawingml/2006/main">
              <a:srgbClr val="69776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EDF0ED"/>
                        </a:solidFill>
                        <a:latin typeface="Bahnschrift"/>
                        <a:ea typeface="Bahnschrift"/>
                        <a:cs typeface="Bahnschrift"/>
                      </a:rPr>
                      <a:t>0.844s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EDF0ED"/>
                      </a:solidFill>
                      <a:latin typeface="Bahnschrift"/>
                      <a:ea typeface="Bahnschrift"/>
                      <a:cs typeface="Bahnschrif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EDF0ED"/>
                        </a:solidFill>
                        <a:latin typeface="Bahnschrift"/>
                        <a:ea typeface="Bahnschrift"/>
                        <a:cs typeface="Bahnschrift"/>
                      </a:rPr>
                      <a:t>2.442s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EDF0ED"/>
                      </a:solidFill>
                      <a:latin typeface="Bahnschrift"/>
                      <a:ea typeface="Bahnschrift"/>
                      <a:cs typeface="Bahnschrif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Data'!$C$2:$C$3</c:f>
              <c:strCache>
                <c:ptCount val="2"/>
                <c:pt idx="0">
                  <c:v>Pace forecast</c:v>
                </c:pt>
                <c:pt idx="1">
                  <c:v>Rival-time forecast</c:v>
                </c:pt>
              </c:strCache>
            </c:strRef>
          </c:cat>
          <c:val>
            <c:numRef>
              <c:f>'Chart Data'!$D$2:$D$3</c:f>
              <c:numCache>
                <c:formatCode>0.0"s"</c:formatCode>
                <c:ptCount val="2"/>
                <c:pt idx="0">
                  <c:v>0.84365</c:v>
                </c:pt>
                <c:pt idx="1">
                  <c:v>2.441853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EDF0ED"/>
                  </a:solidFill>
                  <a:latin typeface="Bahnschrift"/>
                  <a:ea typeface="Bahnschrift"/>
                  <a:cs typeface="Bahnschrif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</a:p>
        </c:txPr>
        <c:crossAx val="48672768"/>
      </c:catAx>
      <c:valAx>
        <c:axId val="48672768"/>
        <c:scaling>
          <c:orientation val="minMax"/>
          <c:max val="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B352B"/>
              </a:solidFill>
            </a:ln>
          </c:spPr>
        </c:majorGridlines>
        <c:numFmt formatCode="0.0&quot;s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0A0E0D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EDF0ED"/>
              </a:solidFill>
              <a:latin typeface="Bahnschrift"/>
              <a:ea typeface="Bahnschrift"/>
              <a:cs typeface="Bahnschrift"/>
            </a:defRPr>
          </a:pPr>
        </a:p>
      </c:txPr>
    </c:legend>
    <c:plotVisOnly val="1"/>
  </c:chart>
  <c:spPr>
    <a:solidFill xmlns:a="http://schemas.openxmlformats.org/drawingml/2006/main">
      <a:srgbClr val="0A0E0D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B8D53-C17C-481F-9685-05E4A44B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950" b="1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7950" b="1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PITWALL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43A8A-90D4-4CD8-BAEB-3EBC0768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6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Tyre degradation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BEB20-3F9C-4B05-8FA4-BBB9080F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1028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3000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Forecast the pace risk.</a:t>
            </a:r>
          </a:p>
          <a:p xmlns:a="http://schemas.openxmlformats.org/drawingml/2006/main">
            <a:pPr>
              <a:defRPr sz="3000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3000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Price the response.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D3662-BB39-4A0B-9806-6D07E018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Aditya &amp; Ruhani  /  TrackShift 2026</a:t>
            </a:r>
          </a:p>
        </p:txBody>
      </p:sp>
    </p:spTree>
    <p:extLst>
      <p:ext uri="{BB962C8B-B14F-4D97-AF65-F5344CB8AC3E}">
        <p14:creationId xmlns:p14="http://schemas.microsoft.com/office/powerpoint/2010/main" val="21311631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B0661-A694-4844-9BD9-85C58762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Tyre wear is hidden inside lap 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63451-8B49-4B18-A068-FC362D13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2700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Fuel  +  tyres  +  traffic  +  track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41BEC-833E-495D-9E0B-51041356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57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925" b="0">
                <a:solidFill>
                  <a:srgbClr val="E4A06D"/>
                </a:solidFill>
                <a:latin typeface="Bahnschrift"/>
                <a:ea typeface="Bahnschrift"/>
                <a:cs typeface="Bahnschrift"/>
              </a:defRPr>
            </a:pPr>
            <a:r>
              <a:rPr sz="5925" b="0">
                <a:solidFill>
                  <a:srgbClr val="E4A06D"/>
                </a:solidFill>
                <a:latin typeface="Bahnschrift"/>
                <a:ea typeface="Bahnschrift"/>
                <a:cs typeface="Bahnschrift"/>
              </a:rPr>
              <a:t>−0.154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B7067-96DA-4AA7-8EB8-E9FD22FE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Naive HARD slope / s per lap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549DB-3E75-4E22-96F0-CB3339C7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52725"/>
            <a:ext cx="457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925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5925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+0.063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3015A-E3EA-4516-A646-EED1A7C0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052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After confounder correction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79FCC-F298-49E0-B910-8AEC4EAA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00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A plausible practice curve still failed the race-transfer test.</a:t>
            </a:r>
          </a:p>
          <a:p xmlns:a="http://schemas.openxmlformats.org/drawingml/2006/main">
            <a:pPr>
              <a:defRPr sz="2100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00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We validate race forecasting and stop scenarios separately.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AE017-476E-43C2-8DAF-745B55D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500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Historical research at tyre age 10; not a direct physical wear sensor.</a:t>
            </a:r>
          </a:p>
        </p:txBody>
      </p:sp>
    </p:spTree>
    <p:extLst>
      <p:ext uri="{BB962C8B-B14F-4D97-AF65-F5344CB8AC3E}">
        <p14:creationId xmlns:p14="http://schemas.microsoft.com/office/powerpoint/2010/main" val="2147919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C40E7E-5148-4CB0-AA39-5038FB01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Lock the forecast. Then reveal the lap.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09AEA-E6A2-47C8-BEAA-9ADA7305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8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HUNGARY / NOR / LAP 25 → LAP 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AAAC35-FCE6-4D0C-ACC0-CEC57B7C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LOCKED FORECAST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52B04-09D0-4700-92FE-ABE994ED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85.066s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393AB-8228-4569-9F69-925AA45F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03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ACTUAL LAP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DB493-DD2B-44FA-BAF4-0A960AB4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575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85.071s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73D181-83FD-4C72-9521-34B6A7D4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003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ABSOLUTE ERROR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0C14E-A67D-4E17-B62E-5433837E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05752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4875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0.005s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C7A6B-FB84-43FA-BE8D-C4914912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Persistence error: 0.098s. The forecast stays fixed as replay advances.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8FA6A-CE0F-4D42-9294-32DD5B53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One historical example. The next benchmark includes every scored evaluation forecast.</a:t>
            </a:r>
          </a:p>
        </p:txBody>
      </p:sp>
    </p:spTree>
    <p:extLst>
      <p:ext uri="{BB962C8B-B14F-4D97-AF65-F5344CB8AC3E}">
        <p14:creationId xmlns:p14="http://schemas.microsoft.com/office/powerpoint/2010/main" val="16106957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FBC82-B851-4E93-A152-B771586E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Traffic can erase the undercut margin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8BCFA-531A-43AA-B4F3-7033399B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3.95s tyre benefit − 0.08s rival pace − 1.50s gap − 0.70s warm-up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D5F67-05D7-4481-A9D1-D59691AF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6825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+1.67s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A1FFB-58D1-427D-ACFD-D822C91C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Central margin / clean rejoin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F3804-9947-466D-91F9-A607FB2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52750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0">
                <a:solidFill>
                  <a:srgbClr val="E4A06D"/>
                </a:solidFill>
                <a:latin typeface="Bahnschrift"/>
                <a:ea typeface="Bahnschrift"/>
                <a:cs typeface="Bahnschrift"/>
              </a:defRPr>
            </a:pPr>
            <a:r>
              <a:rPr sz="6825" b="0">
                <a:solidFill>
                  <a:srgbClr val="E4A06D"/>
                </a:solidFill>
                <a:latin typeface="Bahnschrift"/>
                <a:ea typeface="Bahnschrift"/>
                <a:cs typeface="Bahnschrift"/>
              </a:rPr>
              <a:t>-0.33s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934CA-6191-47B8-8F74-1D075E91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38625"/>
            <a:ext cx="4810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02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With 2s of rejoin traffic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271F8-78A2-4074-A881-7192872D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Both stress ranges cross zero. The tool exposes a fragile attack</a:t>
            </a:r>
          </a:p>
          <a:p xmlns:a="http://schemas.openxmlformats.org/drawingml/2006/main">
            <a:pPr>
              <a:def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instead of inventing a confident pit command.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BFCA4-1557-4916-9275-447DE2F1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42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Both cars stop; shared pit transit cancels. Costs and inventory require engineer input.</a:t>
            </a:r>
          </a:p>
        </p:txBody>
      </p:sp>
    </p:spTree>
    <p:extLst>
      <p:ext uri="{BB962C8B-B14F-4D97-AF65-F5344CB8AC3E}">
        <p14:creationId xmlns:p14="http://schemas.microsoft.com/office/powerpoint/2010/main" val="7600085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FCE54-DD83-496C-908F-4645A02E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Measured improvement against baselines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7810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96ee69f40348b0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BC4EB-33BB-481B-9DC5-090F8964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933575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4950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12.0%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98DFF-7CE3-4B29-837B-7B3F5A30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860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1800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less pace RMSE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5152D-598B-472F-820A-400FAE52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4950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10.0%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FE989-2ACC-4AE6-B511-0BE0791C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76775"/>
            <a:ext cx="280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1800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less rival-time RMSE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0B271-6226-4468-804C-817C4818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18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6,831 pace and 3,128 rival forecasts. Four reused evaluation races.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E079C2-7A12-4DA7-BD49-1958A999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57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Stop-step RMSE 0.757s vs 0.761s: too small a gain to claim optimal pit strategy.</a:t>
            </a:r>
          </a:p>
        </p:txBody>
      </p:sp>
    </p:spTree>
    <p:extLst>
      <p:ext uri="{BB962C8B-B14F-4D97-AF65-F5344CB8AC3E}">
        <p14:creationId xmlns:p14="http://schemas.microsoft.com/office/powerpoint/2010/main" val="3513668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2FF1B8-7A5F-468B-A55E-D8896CD5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3450" b="1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A decision aid the engineer can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82B64-F566-41DE-85E1-F08B460C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64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01   Predict and verify the next laps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AE24E-0B1A-4B9D-9798-F0C71E5F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02   Stress the undercut with traffic and rival response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37CBA-D05F-4066-97A6-507EF53F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defRPr>
            </a:pPr>
            <a:r>
              <a:rPr sz="2550" b="0">
                <a:solidFill>
                  <a:srgbClr val="E6FC74"/>
                </a:solidFill>
                <a:latin typeface="Bahnschrift"/>
                <a:ea typeface="Bahnschrift"/>
                <a:cs typeface="Bahnschrift"/>
              </a:rPr>
              <a:t>03   Inspect the baseline, coverage and model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D4189-D039-4F74-9F9B-9D2CB6B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Measured forecast advantage. Transparent strategy assumptions.</a:t>
            </a:r>
          </a:p>
          <a:p xmlns:a="http://schemas.openxmlformats.org/drawingml/2006/main">
            <a:pPr>
              <a:def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defRPr>
            </a:pPr>
            <a:r>
              <a:rPr sz="2175" b="0">
                <a:solidFill>
                  <a:srgbClr val="EDF0ED"/>
                </a:solidFill>
                <a:latin typeface="Bahnschrift"/>
                <a:ea typeface="Bahnschrift"/>
                <a:cs typeface="Bahnschrift"/>
              </a:rPr>
              <a:t>Grounded engineer briefing. Offline replay.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29BB7-C1FF-4835-8693-A6547CDD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defRPr>
            </a:pPr>
            <a:r>
              <a:rPr sz="1725" b="0">
                <a:solidFill>
                  <a:srgbClr val="A6B0A7"/>
                </a:solidFill>
                <a:latin typeface="Bahnschrift"/>
                <a:ea typeface="Bahnschrift"/>
                <a:cs typeface="Bahnschrift"/>
              </a:rPr>
              <a:t>Open the app → Present to jury</a:t>
            </a:r>
          </a:p>
        </p:txBody>
      </p:sp>
    </p:spTree>
    <p:extLst>
      <p:ext uri="{BB962C8B-B14F-4D97-AF65-F5344CB8AC3E}">
        <p14:creationId xmlns:p14="http://schemas.microsoft.com/office/powerpoint/2010/main" val="1783964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2026-09-12T18:16:49.7920000Z</dcterms:created>
  <dcterms:modified xsi:type="dcterms:W3CDTF">2026-09-12T18:16:49.7920000Z</dcterms:modified>
</coreProperties>
</file>