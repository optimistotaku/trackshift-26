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and motorsport fans. We are team Handsome Squidward, comprising Aditya and Ruhani. Today we are presenting PITWALL: Opponent-Aware Tyre Strategy &amp; Degradation Intelligence. Formula 1 race strategies are won and lost on fractional seconds, but lap times are deceptive. PITWALL isolates pure tyre performance from confounders like fuel and traffic, then provides real-time attack pricing for the race engineer.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traditional tyre degradation models fail? In Formula 1, fuel burns at ~0.03 s/kg. Within a single practice run, fuel burn is perfectly collinear with tyre age. A standard naive regression actually reports HARD tyres getting FASTER (-0.154 s per lap) because fuel burn masks wear. When we deconfound fuel, traffic, and track rubbering, the slope restores to +0.063 s/lap. Crucially, we also discovered that even a clean practice curve fails when applied out-of-sample to race pit stops (calibration slope +0.006).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pivotal breakthrough of the project: traditional data scientists assume you can take a practice degradation curve and plug it into a race simulator. We tested that: it fails completely! The practice curve had a calibration slope of +0.006 when predicting real race pit stop transitions. Why? Because tyre degradation accumulates for roughly 20 laps and then plateaus. Instead of trying to force an unobservable wear percentage, PITWALL models the observable quantity a race engineer needs: the actual lap time recovered across a pit stop (+1.26s/lap fresh tyre value).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this actionable on the pit wall, we designed the 4-Stage Live Decision Sequence. This matches the exact workflow seen at the top of our race console: 01 Tyre Condition assesses the current stint age and isolated degradation trend. 02 Forecast Pace projects the driver's pace over the next laps with uncertainty intervals. 03 Plan the Stop evaluates fitting alternative compounds (e.g. fitting Hard) and models pit transit loss. 04 Rejoin &amp; Attack calculates opponent battles, rejoin traffic, and undercut stress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PITWALL in action. This is our live interactive motorsport console, running 100% client-side. At the center is the reconstructed 4.349 km Hungaroring circuit with real driver spatial coordinates. On the left, the One Driver Clock projects Norris at 83.16s, with the locked auto-verification box showing just 0.475s error on Lap 69 against the 83.364s actual. On the right, the race engineer briefing checks signal integrity (weather 31s old, 100% traffic coverage) and verifies whether rival undercut scenarios are supported.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PITWALL help make better strategy decisions? Consider the classic undercut. Traditional tools say: 'You have a 1.67s advantage, box now!' PITWALL prices the attack with an explicit waterfall budget: 3 laps of fresh tyre benefit (+3.95s), minus rival pace (-0.08s), minus track gap (-1.50s), minus out-lap warm-up (-0.70s). That leaves a central margin of +1.67s. However, we stress-test this against traffic: adding just 2 seconds of traffic delay turns it into -0.33s. Because the uncertainty interval spans from -8.9s to +8.2s, the engineer knows this is high-risk.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hard benchmark numbers. We tested PITWALL across 12 Grand Prix events of the 2026 season. Across 6,831 scored chronological pace forecasts, PITWALL achieved a 0.743s RMSE—a 12.0% improvement over persistence. For relative battle times against rivals, RMSE was 2.197s—10.0% better than rolling median extrapolation. Most importantly for strategy: when alerting that a driver is about to lose &gt;2 seconds to a rival, our precision is 78.1% compared to 71.3% for baselines, eliminating 73 costly false alarms.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PITWALL is a rock-solid, production-grade engineering architecture. We ingest raw telemetry, timing, and weather feeds via FastF1, encompassing 14,310 laps across 12 events. Our modeling pipeline evaluates 17 pace model specifications and 8 stop specifications, selecting regularized Ridge with saturating age bases and state-space estimation. The frontend is zero-dependency, static, and works completely offline—critical for trackside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winning hackathon submission must demonstrate scientific integrity. We are completely transparent about our modeling boundaries: First, we disclose that R09 to R12 are reused evaluation races, not a fresh blind holdout. Second, we do not hallucinate physical tyre sensors: carcass temperature, pressure, and surface wear are not in public feeds, and we state that clearly in the console. Third, we make no unvalidated claims of 'positions won' in counterfactual races. We present audited forecasting improvements and robust decision stress tests.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PITWALL bridges the gap between deep motorsport data science and real-time pit wall decision making. We solve the fuel collinearity trap, provide verified chronological pace forecasting with a 12% lower RMSE, and give strategists an inspectable attack budget to prevent costly undercut failures. Thank you to the jury and organizers of TrackShift 2026. Aditya and Ruhani are now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Rounded Rectangle 1"/>
          <p:cNvSpPr/>
          <p:nvPr/>
        </p:nvSpPr>
        <p:spPr>
          <a:xfrm>
            <a:off x="731520" y="731520"/>
            <a:ext cx="3840480" cy="365760"/>
          </a:xfrm>
          <a:prstGeom prst="roundRect">
            <a:avLst/>
          </a:prstGeom>
          <a:solidFill>
            <a:srgbClr val="131A16"/>
          </a:solidFill>
          <a:ln w="12700">
            <a:solidFill>
              <a:srgbClr val="E6FC74"/>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0"/>
              </a:spcAft>
            </a:pPr>
            <a:r>
              <a:rPr sz="1000" b="1" i="0">
                <a:solidFill>
                  <a:srgbClr val="E6FC74"/>
                </a:solidFill>
                <a:latin typeface="Segoe UI"/>
              </a:rPr>
              <a:t>TRACKSHIFT 2026  /  AI MOTORSPORT TRACK</a:t>
            </a:r>
          </a:p>
        </p:txBody>
      </p:sp>
      <p:sp>
        <p:nvSpPr>
          <p:cNvPr id="3" name="TextBox 2"/>
          <p:cNvSpPr txBox="1"/>
          <p:nvPr/>
        </p:nvSpPr>
        <p:spPr>
          <a:xfrm>
            <a:off x="731520" y="1371600"/>
            <a:ext cx="10698480" cy="2011680"/>
          </a:xfrm>
          <a:prstGeom prst="rect">
            <a:avLst/>
          </a:prstGeom>
          <a:noFill/>
        </p:spPr>
        <p:txBody>
          <a:bodyPr wrap="square" lIns="0" tIns="0">
            <a:spAutoFit/>
          </a:bodyPr>
          <a:lstStyle/>
          <a:p>
            <a:pPr algn="l">
              <a:spcAft>
                <a:spcPts val="400"/>
              </a:spcAft>
            </a:pPr>
            <a:r>
              <a:rPr sz="7600" b="1" i="0">
                <a:solidFill>
                  <a:srgbClr val="E6FC74"/>
                </a:solidFill>
                <a:latin typeface="Segoe UI"/>
              </a:rPr>
              <a:t>PITWALL</a:t>
            </a:r>
          </a:p>
          <a:p>
            <a:pPr algn="l">
              <a:spcAft>
                <a:spcPts val="800"/>
              </a:spcAft>
            </a:pPr>
            <a:r>
              <a:rPr sz="2600" b="1" i="0">
                <a:solidFill>
                  <a:srgbClr val="EDF0ED"/>
                </a:solidFill>
                <a:latin typeface="Segoe UI"/>
              </a:rPr>
              <a:t>Opponent-Aware Tyre Strategy &amp; Degradation Intelligence</a:t>
            </a:r>
          </a:p>
          <a:p>
            <a:pPr algn="l">
              <a:spcAft>
                <a:spcPts val="0"/>
              </a:spcAft>
            </a:pPr>
            <a:r>
              <a:rPr sz="1600" b="0" i="0">
                <a:solidFill>
                  <a:srgbClr val="A6B0A7"/>
                </a:solidFill>
                <a:latin typeface="Segoe UI"/>
              </a:rPr>
              <a:t>Separating true tyre degradation from fuel, traffic &amp; track evolution — then pricing the pit attack.</a:t>
            </a:r>
          </a:p>
        </p:txBody>
      </p:sp>
      <p:sp>
        <p:nvSpPr>
          <p:cNvPr id="4" name="Rounded Rectangle 3"/>
          <p:cNvSpPr/>
          <p:nvPr/>
        </p:nvSpPr>
        <p:spPr>
          <a:xfrm>
            <a:off x="731520" y="3840480"/>
            <a:ext cx="342900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l">
              <a:spcAft>
                <a:spcPts val="600"/>
              </a:spcAft>
            </a:pPr>
            <a:r>
              <a:rPr sz="1200" b="1" i="0">
                <a:solidFill>
                  <a:srgbClr val="E6FC74"/>
                </a:solidFill>
                <a:latin typeface="Segoe UI"/>
              </a:rPr>
              <a:t>PROBLEM SOLVED</a:t>
            </a:r>
          </a:p>
          <a:p>
            <a:pPr algn="l">
              <a:spcAft>
                <a:spcPts val="0"/>
              </a:spcAft>
            </a:pPr>
            <a:r>
              <a:rPr sz="1300" b="0" i="0">
                <a:solidFill>
                  <a:srgbClr val="EDF0ED"/>
                </a:solidFill>
                <a:latin typeface="Segoe UI"/>
              </a:rPr>
              <a:t>Lap times are not tyre wear sensors. Naive models claim tyres get faster. We deconfound fuel, traffic &amp; rubbering.</a:t>
            </a:r>
          </a:p>
        </p:txBody>
      </p:sp>
      <p:sp>
        <p:nvSpPr>
          <p:cNvPr id="5" name="Rounded Rectangle 4"/>
          <p:cNvSpPr/>
          <p:nvPr/>
        </p:nvSpPr>
        <p:spPr>
          <a:xfrm>
            <a:off x="4343400" y="3840480"/>
            <a:ext cx="342900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l">
              <a:spcAft>
                <a:spcPts val="600"/>
              </a:spcAft>
            </a:pPr>
            <a:r>
              <a:rPr sz="1200" b="1" i="0">
                <a:solidFill>
                  <a:srgbClr val="E6FC74"/>
                </a:solidFill>
                <a:latin typeface="Segoe UI"/>
              </a:rPr>
              <a:t>LIVE STRATEGY ENGINE</a:t>
            </a:r>
          </a:p>
          <a:p>
            <a:pPr algn="l">
              <a:spcAft>
                <a:spcPts val="0"/>
              </a:spcAft>
            </a:pPr>
            <a:r>
              <a:rPr sz="1300" b="0" i="0">
                <a:solidFill>
                  <a:srgbClr val="EDF0ED"/>
                </a:solidFill>
                <a:latin typeface="Segoe UI"/>
              </a:rPr>
              <a:t>One Driver Clock with 4-stage decision flow: Tyre Condition -&gt; Forecast Pace -&gt; Plan Stop -&gt; Rejoin &amp; Attack.</a:t>
            </a:r>
          </a:p>
        </p:txBody>
      </p:sp>
      <p:sp>
        <p:nvSpPr>
          <p:cNvPr id="6" name="Rounded Rectangle 5"/>
          <p:cNvSpPr/>
          <p:nvPr/>
        </p:nvSpPr>
        <p:spPr>
          <a:xfrm>
            <a:off x="7955280" y="3840480"/>
            <a:ext cx="342900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182880"/>
          <a:lstStyle/>
          <a:p>
            <a:pPr algn="l">
              <a:spcAft>
                <a:spcPts val="600"/>
              </a:spcAft>
            </a:pPr>
            <a:r>
              <a:rPr sz="1200" b="1" i="0">
                <a:solidFill>
                  <a:srgbClr val="E6FC74"/>
                </a:solidFill>
                <a:latin typeface="Segoe UI"/>
              </a:rPr>
              <a:t>PROVEN ACCURACY</a:t>
            </a:r>
          </a:p>
          <a:p>
            <a:pPr algn="l">
              <a:spcAft>
                <a:spcPts val="0"/>
              </a:spcAft>
            </a:pPr>
            <a:r>
              <a:rPr sz="1300" b="0" i="0">
                <a:solidFill>
                  <a:srgbClr val="EDF0ED"/>
                </a:solidFill>
                <a:latin typeface="Segoe UI"/>
              </a:rPr>
              <a:t>12.0% lower pace RMSE (0.743s) &amp; 10.0% rival RMSE reduction across 6,831 scored chronological forecasts.</a:t>
            </a:r>
          </a:p>
        </p:txBody>
      </p:sp>
      <p:sp>
        <p:nvSpPr>
          <p:cNvPr id="7" name="Rounded Rectangle 6"/>
          <p:cNvSpPr/>
          <p:nvPr/>
        </p:nvSpPr>
        <p:spPr>
          <a:xfrm>
            <a:off x="731520" y="5806440"/>
            <a:ext cx="10728655" cy="5943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0"/>
              </a:spcAft>
            </a:pPr>
            <a:r>
              <a:rPr sz="1200" b="1" i="0">
                <a:solidFill>
                  <a:srgbClr val="A6B0A7"/>
                </a:solidFill>
                <a:latin typeface="Segoe UI"/>
              </a:rPr>
              <a:t>TEAM: HANDSOME SQUIDWARD   |   MEMBERS: ADITYA &amp; RUHANI   |   FASTF1 2026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01 / THE CORE PROBLEM</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Lap Time Is Not a Tyre Wear Measurement</a:t>
            </a:r>
          </a:p>
        </p:txBody>
      </p:sp>
      <p:sp>
        <p:nvSpPr>
          <p:cNvPr id="4" name="Rounded Rectangle 3"/>
          <p:cNvSpPr/>
          <p:nvPr/>
        </p:nvSpPr>
        <p:spPr>
          <a:xfrm>
            <a:off x="7315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l">
              <a:spcAft>
                <a:spcPts val="800"/>
              </a:spcAft>
            </a:pPr>
            <a:r>
              <a:rPr sz="1600" b="1" i="0">
                <a:solidFill>
                  <a:srgbClr val="E4A06D"/>
                </a:solidFill>
                <a:latin typeface="Segoe UI"/>
              </a:rPr>
              <a:t>THE COLLINEARITY ILLUSION</a:t>
            </a:r>
          </a:p>
          <a:p>
            <a:pPr algn="l">
              <a:spcAft>
                <a:spcPts val="1200"/>
              </a:spcAft>
            </a:pPr>
            <a:r>
              <a:rPr sz="1300" b="0" i="0">
                <a:solidFill>
                  <a:srgbClr val="EDF0ED"/>
                </a:solidFill>
                <a:latin typeface="Segoe UI"/>
              </a:rPr>
              <a:t>Inside a single practice or race stint, fuel burns off monotonically as tyre age increases. Because fuel loss makes the car lighter and faster, naive OLS regression yields an unphysical sign error:</a:t>
            </a:r>
          </a:p>
          <a:p>
            <a:pPr algn="l">
              <a:spcAft>
                <a:spcPts val="200"/>
              </a:spcAft>
            </a:pPr>
            <a:r>
              <a:rPr sz="1100" b="1" i="0">
                <a:solidFill>
                  <a:srgbClr val="647066"/>
                </a:solidFill>
                <a:latin typeface="Segoe UI"/>
              </a:rPr>
              <a:t>NAIVE HARD TYRE FIT (UNPHYSICAL)</a:t>
            </a:r>
          </a:p>
          <a:p>
            <a:pPr algn="l">
              <a:spcAft>
                <a:spcPts val="1400"/>
              </a:spcAft>
            </a:pPr>
            <a:r>
              <a:rPr sz="1800" b="1" i="0">
                <a:solidFill>
                  <a:srgbClr val="E4A06D"/>
                </a:solidFill>
                <a:latin typeface="Segoe UI"/>
              </a:rPr>
              <a:t>−0.154 s / lap  (Claims tyres get faster!)</a:t>
            </a:r>
          </a:p>
          <a:p>
            <a:pPr algn="l">
              <a:spcAft>
                <a:spcPts val="200"/>
              </a:spcAft>
            </a:pPr>
            <a:r>
              <a:rPr sz="1100" b="1" i="0">
                <a:solidFill>
                  <a:srgbClr val="647066"/>
                </a:solidFill>
                <a:latin typeface="Segoe UI"/>
              </a:rPr>
              <a:t>DECONFOUNDED PITWALL FIT (PHYSICAL)</a:t>
            </a:r>
          </a:p>
          <a:p>
            <a:pPr algn="l">
              <a:spcAft>
                <a:spcPts val="1600"/>
              </a:spcAft>
            </a:pPr>
            <a:r>
              <a:rPr sz="1800" b="1" i="0">
                <a:solidFill>
                  <a:srgbClr val="E6FC74"/>
                </a:solidFill>
                <a:latin typeface="Segoe UI"/>
              </a:rPr>
              <a:t>+0.063 s / lap  (Correct positive wear rate)</a:t>
            </a:r>
          </a:p>
          <a:p>
            <a:pPr algn="l">
              <a:spcAft>
                <a:spcPts val="400"/>
              </a:spcAft>
            </a:pPr>
            <a:r>
              <a:rPr sz="1200" b="1" i="0">
                <a:solidFill>
                  <a:srgbClr val="EDF0ED"/>
                </a:solidFill>
                <a:latin typeface="Segoe UI"/>
              </a:rPr>
              <a:t>KEY CONPOUNDERS ISOLATED:</a:t>
            </a:r>
          </a:p>
          <a:p>
            <a:pPr algn="l">
              <a:spcAft>
                <a:spcPts val="0"/>
              </a:spcAft>
            </a:pPr>
            <a:r>
              <a:rPr sz="1200" b="0" i="0">
                <a:solidFill>
                  <a:srgbClr val="A6B0A7"/>
                </a:solidFill>
                <a:latin typeface="Segoe UI"/>
              </a:rPr>
              <a:t>• Fuel Mass Burn: 0.0294 s/kg estimated directly from race refuel resets.
• Track Evolution: Logarithmic rubbering saturation across sessions.
• Traffic &amp; Dirty Air: Measured distance gaps to cars ahead.</a:t>
            </a:r>
          </a:p>
        </p:txBody>
      </p:sp>
      <p:sp>
        <p:nvSpPr>
          <p:cNvPr id="5" name="Rounded Rectangle 4"/>
          <p:cNvSpPr/>
          <p:nvPr/>
        </p:nvSpPr>
        <p:spPr>
          <a:xfrm>
            <a:off x="62179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l">
              <a:spcAft>
                <a:spcPts val="600"/>
              </a:spcAft>
            </a:pPr>
            <a:r>
              <a:rPr sz="1600" b="1" i="0">
                <a:solidFill>
                  <a:srgbClr val="E6FC74"/>
                </a:solidFill>
                <a:latin typeface="Segoe UI"/>
              </a:rPr>
              <a:t>EMPIRICAL PROOF: THE SPECIFICATION LADDER</a:t>
            </a:r>
          </a:p>
          <a:p>
            <a:pPr algn="l">
              <a:spcAft>
                <a:spcPts val="800"/>
              </a:spcAft>
            </a:pPr>
            <a:r>
              <a:rPr sz="1200" b="0" i="0">
                <a:solidFill>
                  <a:srgbClr val="A6B0A7"/>
                </a:solidFill>
                <a:latin typeface="Segoe UI"/>
              </a:rPr>
              <a:t>Step-by-step deconfounding restores positive physical degradation slopes across SOFT, MEDIUM, and HARD compounds:</a:t>
            </a:r>
          </a:p>
        </p:txBody>
      </p:sp>
      <p:pic>
        <p:nvPicPr>
          <p:cNvPr id="6" name="Picture 5" descr="fig1_ladder.png"/>
          <p:cNvPicPr>
            <a:picLocks noChangeAspect="1"/>
          </p:cNvPicPr>
          <p:nvPr/>
        </p:nvPicPr>
        <p:blipFill>
          <a:blip r:embed="rId3"/>
          <a:stretch>
            <a:fillRect/>
          </a:stretch>
        </p:blipFill>
        <p:spPr>
          <a:xfrm>
            <a:off x="6400800" y="2468880"/>
            <a:ext cx="4846320" cy="25604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02 / SCIENTIFIC BREAKTHROUGH</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The Practice-to-Race Transfer Failure &amp; Observable Recovery</a:t>
            </a:r>
          </a:p>
        </p:txBody>
      </p:sp>
      <p:sp>
        <p:nvSpPr>
          <p:cNvPr id="4" name="Rounded Rectangle 3"/>
          <p:cNvSpPr/>
          <p:nvPr/>
        </p:nvSpPr>
        <p:spPr>
          <a:xfrm>
            <a:off x="7315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l">
              <a:spcAft>
                <a:spcPts val="400"/>
              </a:spcAft>
            </a:pPr>
            <a:r>
              <a:rPr sz="1600" b="1" i="0">
                <a:solidFill>
                  <a:srgbClr val="E4A06D"/>
                </a:solidFill>
                <a:latin typeface="Segoe UI"/>
              </a:rPr>
              <a:t>THE TRANSFER FAILURE EVIDENCE</a:t>
            </a:r>
          </a:p>
          <a:p>
            <a:pPr algn="l">
              <a:spcAft>
                <a:spcPts val="600"/>
              </a:spcAft>
            </a:pPr>
            <a:r>
              <a:rPr sz="1200" b="0" i="0">
                <a:solidFill>
                  <a:srgbClr val="A6B0A7"/>
                </a:solidFill>
                <a:latin typeface="Segoe UI"/>
              </a:rPr>
              <a:t>Practice curves get season averages roughly right (+1.52s pred vs +1.26s actual) but fail stop-by-stop variation entirely (slope +0.006):</a:t>
            </a:r>
          </a:p>
        </p:txBody>
      </p:sp>
      <p:pic>
        <p:nvPicPr>
          <p:cNvPr id="5" name="Picture 4" descr="fig4_transfer_failure.png"/>
          <p:cNvPicPr>
            <a:picLocks noChangeAspect="1"/>
          </p:cNvPicPr>
          <p:nvPr/>
        </p:nvPicPr>
        <p:blipFill>
          <a:blip r:embed="rId3"/>
          <a:stretch>
            <a:fillRect/>
          </a:stretch>
        </p:blipFill>
        <p:spPr>
          <a:xfrm>
            <a:off x="1188720" y="2468880"/>
            <a:ext cx="4297680" cy="3786952"/>
          </a:xfrm>
          <a:prstGeom prst="rect">
            <a:avLst/>
          </a:prstGeom>
        </p:spPr>
      </p:pic>
      <p:sp>
        <p:nvSpPr>
          <p:cNvPr id="6" name="Rounded Rectangle 5"/>
          <p:cNvSpPr/>
          <p:nvPr/>
        </p:nvSpPr>
        <p:spPr>
          <a:xfrm>
            <a:off x="62179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274320"/>
          <a:lstStyle/>
          <a:p>
            <a:pPr algn="l">
              <a:spcAft>
                <a:spcPts val="800"/>
              </a:spcAft>
            </a:pPr>
            <a:r>
              <a:rPr sz="1600" b="1" i="0">
                <a:solidFill>
                  <a:srgbClr val="E6FC74"/>
                </a:solidFill>
                <a:latin typeface="Segoe UI"/>
              </a:rPr>
              <a:t>THE PITWALL SOLUTION: OBSERVABLE DELTAS</a:t>
            </a:r>
          </a:p>
          <a:p>
            <a:pPr algn="l">
              <a:spcAft>
                <a:spcPts val="1400"/>
              </a:spcAft>
            </a:pPr>
            <a:r>
              <a:rPr sz="1300" b="0" i="0">
                <a:solidFill>
                  <a:srgbClr val="EDF0ED"/>
                </a:solidFill>
                <a:latin typeface="Segoe UI"/>
              </a:rPr>
              <a:t>Rather than predicting unobservable physical wear, PITWALL models what engineers actually need: ground truth pace gains across tyre resets.</a:t>
            </a:r>
          </a:p>
          <a:p>
            <a:pPr algn="l">
              <a:spcAft>
                <a:spcPts val="300"/>
              </a:spcAft>
            </a:pPr>
            <a:r>
              <a:rPr sz="1300" b="1" i="0">
                <a:solidFill>
                  <a:srgbClr val="E6FC74"/>
                </a:solidFill>
                <a:latin typeface="Segoe UI"/>
              </a:rPr>
              <a:t>1. PIT STOPS AS NATURAL EXPERIMENTS</a:t>
            </a:r>
          </a:p>
          <a:p>
            <a:pPr algn="l">
              <a:spcAft>
                <a:spcPts val="1200"/>
              </a:spcAft>
            </a:pPr>
            <a:r>
              <a:rPr sz="1200" b="0" i="0">
                <a:solidFill>
                  <a:srgbClr val="A6B0A7"/>
                </a:solidFill>
                <a:latin typeface="Segoe UI"/>
              </a:rPr>
              <a:t>At a pit stop, tyre age abruptly resets to zero while fuel mass remains continuous. The pace step directly isolates the fresh rubber effect.</a:t>
            </a:r>
          </a:p>
          <a:p>
            <a:pPr algn="l">
              <a:spcAft>
                <a:spcPts val="300"/>
              </a:spcAft>
            </a:pPr>
            <a:r>
              <a:rPr sz="1300" b="1" i="0">
                <a:solidFill>
                  <a:srgbClr val="E6FC74"/>
                </a:solidFill>
                <a:latin typeface="Segoe UI"/>
              </a:rPr>
              <a:t>2. MEASURED FRESH TYRE VALUE</a:t>
            </a:r>
          </a:p>
          <a:p>
            <a:pPr algn="l">
              <a:spcAft>
                <a:spcPts val="1200"/>
              </a:spcAft>
            </a:pPr>
            <a:r>
              <a:rPr sz="1200" b="0" i="0">
                <a:solidFill>
                  <a:srgbClr val="A6B0A7"/>
                </a:solidFill>
                <a:latin typeface="Segoe UI"/>
              </a:rPr>
              <a:t>Empirical fresh tyre recovery is +1.26 s/lap (sd 1.03) measured across 288 real Formula 1 stops.</a:t>
            </a:r>
          </a:p>
          <a:p>
            <a:pPr algn="l">
              <a:spcAft>
                <a:spcPts val="300"/>
              </a:spcAft>
            </a:pPr>
            <a:r>
              <a:rPr sz="1300" b="1" i="0">
                <a:solidFill>
                  <a:srgbClr val="E6FC74"/>
                </a:solidFill>
                <a:latin typeface="Segoe UI"/>
              </a:rPr>
              <a:t>3. REGULARIZED DECISION ENSEMBLE</a:t>
            </a:r>
          </a:p>
          <a:p>
            <a:pPr algn="l">
              <a:spcAft>
                <a:spcPts val="0"/>
              </a:spcAft>
            </a:pPr>
            <a:r>
              <a:rPr sz="1200" b="0" i="0">
                <a:solidFill>
                  <a:srgbClr val="A6B0A7"/>
                </a:solidFill>
                <a:latin typeface="Segoe UI"/>
              </a:rPr>
              <a:t>Combines compound pair, saturating age basis, track temperature, observed traffic, and recent pace state. Delivers 11.8% RMSE reduction vs mean.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03 / OPERATIONAL ARCHITECTURE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The 4-Stage Live Decision Sequence</a:t>
            </a:r>
          </a:p>
        </p:txBody>
      </p:sp>
      <p:sp>
        <p:nvSpPr>
          <p:cNvPr id="4" name="Rounded Rectangle 3"/>
          <p:cNvSpPr/>
          <p:nvPr/>
        </p:nvSpPr>
        <p:spPr>
          <a:xfrm>
            <a:off x="73152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STAGE 01</a:t>
            </a:r>
          </a:p>
          <a:p>
            <a:pPr algn="l">
              <a:spcAft>
                <a:spcPts val="1200"/>
              </a:spcAft>
            </a:pPr>
            <a:r>
              <a:rPr sz="1500" b="1" i="0">
                <a:solidFill>
                  <a:srgbClr val="EDF0ED"/>
                </a:solidFill>
                <a:latin typeface="Segoe UI"/>
              </a:rPr>
              <a:t>TYRE CONDITION</a:t>
            </a:r>
          </a:p>
          <a:p>
            <a:pPr algn="l">
              <a:spcAft>
                <a:spcPts val="200"/>
              </a:spcAft>
            </a:pPr>
            <a:r>
              <a:rPr sz="1300" b="1" i="0">
                <a:solidFill>
                  <a:srgbClr val="E4A06D"/>
                </a:solidFill>
                <a:latin typeface="Segoe UI"/>
              </a:rPr>
              <a:t>SOFT / 16 Laps</a:t>
            </a:r>
          </a:p>
          <a:p>
            <a:pPr algn="l">
              <a:spcAft>
                <a:spcPts val="1400"/>
              </a:spcAft>
            </a:pPr>
            <a:r>
              <a:rPr sz="1600" b="1" i="0">
                <a:solidFill>
                  <a:srgbClr val="E6FC74"/>
                </a:solidFill>
                <a:latin typeface="Segoe UI"/>
              </a:rPr>
              <a:t>-0.00s / lap trend</a:t>
            </a:r>
          </a:p>
          <a:p>
            <a:pPr algn="l">
              <a:spcAft>
                <a:spcPts val="0"/>
              </a:spcAft>
            </a:pPr>
            <a:r>
              <a:rPr sz="1200" b="0" i="0">
                <a:solidFill>
                  <a:srgbClr val="A6B0A7"/>
                </a:solidFill>
                <a:latin typeface="Segoe UI"/>
              </a:rPr>
              <a:t>Stint age tracking, compound state, and fuel-corrected pace trend. Assesses remaining life without relying on misleading wear sensors.</a:t>
            </a:r>
          </a:p>
        </p:txBody>
      </p:sp>
      <p:sp>
        <p:nvSpPr>
          <p:cNvPr id="5" name="Rounded Rectangle 4"/>
          <p:cNvSpPr/>
          <p:nvPr/>
        </p:nvSpPr>
        <p:spPr>
          <a:xfrm>
            <a:off x="342900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STAGE 02</a:t>
            </a:r>
          </a:p>
          <a:p>
            <a:pPr algn="l">
              <a:spcAft>
                <a:spcPts val="1200"/>
              </a:spcAft>
            </a:pPr>
            <a:r>
              <a:rPr sz="1500" b="1" i="0">
                <a:solidFill>
                  <a:srgbClr val="EDF0ED"/>
                </a:solidFill>
                <a:latin typeface="Segoe UI"/>
              </a:rPr>
              <a:t>FORECAST PACE</a:t>
            </a:r>
          </a:p>
          <a:p>
            <a:pPr algn="l">
              <a:spcAft>
                <a:spcPts val="200"/>
              </a:spcAft>
            </a:pPr>
            <a:r>
              <a:rPr sz="1300" b="1" i="0">
                <a:solidFill>
                  <a:srgbClr val="E4A06D"/>
                </a:solidFill>
                <a:latin typeface="Segoe UI"/>
              </a:rPr>
              <a:t>Lap 70 Forecast</a:t>
            </a:r>
          </a:p>
          <a:p>
            <a:pPr algn="l">
              <a:spcAft>
                <a:spcPts val="1400"/>
              </a:spcAft>
            </a:pPr>
            <a:r>
              <a:rPr sz="1600" b="1" i="0">
                <a:solidFill>
                  <a:srgbClr val="E6FC74"/>
                </a:solidFill>
                <a:latin typeface="Segoe UI"/>
              </a:rPr>
              <a:t>83.16s (70% CI)</a:t>
            </a:r>
          </a:p>
          <a:p>
            <a:pPr algn="l">
              <a:spcAft>
                <a:spcPts val="0"/>
              </a:spcAft>
            </a:pPr>
            <a:r>
              <a:rPr sz="1200" b="0" i="0">
                <a:solidFill>
                  <a:srgbClr val="A6B0A7"/>
                </a:solidFill>
                <a:latin typeface="Segoe UI"/>
              </a:rPr>
              <a:t>Precomputed chronological machine learning model (Ridge + State Space + Gradient Boosting). Locked ahead of time for auditable scoring.</a:t>
            </a:r>
          </a:p>
        </p:txBody>
      </p:sp>
      <p:sp>
        <p:nvSpPr>
          <p:cNvPr id="6" name="Rounded Rectangle 5"/>
          <p:cNvSpPr/>
          <p:nvPr/>
        </p:nvSpPr>
        <p:spPr>
          <a:xfrm>
            <a:off x="612648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STAGE 03</a:t>
            </a:r>
          </a:p>
          <a:p>
            <a:pPr algn="l">
              <a:spcAft>
                <a:spcPts val="1200"/>
              </a:spcAft>
            </a:pPr>
            <a:r>
              <a:rPr sz="1500" b="1" i="0">
                <a:solidFill>
                  <a:srgbClr val="EDF0ED"/>
                </a:solidFill>
                <a:latin typeface="Segoe UI"/>
              </a:rPr>
              <a:t>PLAN THE STOP</a:t>
            </a:r>
          </a:p>
          <a:p>
            <a:pPr algn="l">
              <a:spcAft>
                <a:spcPts val="200"/>
              </a:spcAft>
            </a:pPr>
            <a:r>
              <a:rPr sz="1300" b="1" i="0">
                <a:solidFill>
                  <a:srgbClr val="E4A06D"/>
                </a:solidFill>
                <a:latin typeface="Segoe UI"/>
              </a:rPr>
              <a:t>Fit Hard Option</a:t>
            </a:r>
          </a:p>
          <a:p>
            <a:pPr algn="l">
              <a:spcAft>
                <a:spcPts val="1400"/>
              </a:spcAft>
            </a:pPr>
            <a:r>
              <a:rPr sz="1600" b="1" i="0">
                <a:solidFill>
                  <a:srgbClr val="E6FC74"/>
                </a:solidFill>
                <a:latin typeface="Segoe UI"/>
              </a:rPr>
              <a:t>+1.15s / lap delta</a:t>
            </a:r>
          </a:p>
          <a:p>
            <a:pPr algn="l">
              <a:spcAft>
                <a:spcPts val="0"/>
              </a:spcAft>
            </a:pPr>
            <a:r>
              <a:rPr sz="1200" b="0" i="0">
                <a:solidFill>
                  <a:srgbClr val="A6B0A7"/>
                </a:solidFill>
                <a:latin typeface="Segoe UI"/>
              </a:rPr>
              <a:t>Estimates pace step across pit stop (+1.15s/lap response) against a 22.5s pit loss. Compares Hard vs Medium vs Soft compound availability.</a:t>
            </a:r>
          </a:p>
        </p:txBody>
      </p:sp>
      <p:sp>
        <p:nvSpPr>
          <p:cNvPr id="7" name="Rounded Rectangle 6"/>
          <p:cNvSpPr/>
          <p:nvPr/>
        </p:nvSpPr>
        <p:spPr>
          <a:xfrm>
            <a:off x="882396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STAGE 04</a:t>
            </a:r>
          </a:p>
          <a:p>
            <a:pPr algn="l">
              <a:spcAft>
                <a:spcPts val="1200"/>
              </a:spcAft>
            </a:pPr>
            <a:r>
              <a:rPr sz="1500" b="1" i="0">
                <a:solidFill>
                  <a:srgbClr val="EDF0ED"/>
                </a:solidFill>
                <a:latin typeface="Segoe UI"/>
              </a:rPr>
              <a:t>REJOIN &amp; ATTACK</a:t>
            </a:r>
          </a:p>
          <a:p>
            <a:pPr algn="l">
              <a:spcAft>
                <a:spcPts val="200"/>
              </a:spcAft>
            </a:pPr>
            <a:r>
              <a:rPr sz="1300" b="1" i="0">
                <a:solidFill>
                  <a:srgbClr val="E4A06D"/>
                </a:solidFill>
                <a:latin typeface="Segoe UI"/>
              </a:rPr>
              <a:t>Rejoin vs HAM</a:t>
            </a:r>
          </a:p>
          <a:p>
            <a:pPr algn="l">
              <a:spcAft>
                <a:spcPts val="1400"/>
              </a:spcAft>
            </a:pPr>
            <a:r>
              <a:rPr sz="1600" b="1" i="0">
                <a:solidFill>
                  <a:srgbClr val="E6FC74"/>
                </a:solidFill>
                <a:latin typeface="Segoe UI"/>
              </a:rPr>
              <a:t>+2.2s gap behind</a:t>
            </a:r>
          </a:p>
          <a:p>
            <a:pPr algn="l">
              <a:spcAft>
                <a:spcPts val="0"/>
              </a:spcAft>
            </a:pPr>
            <a:r>
              <a:rPr sz="1200" b="0" i="0">
                <a:solidFill>
                  <a:srgbClr val="A6B0A7"/>
                </a:solidFill>
                <a:latin typeface="Segoe UI"/>
              </a:rPr>
              <a:t>Models projected traffic window (13/22 cars clear). Runs undercut stress test against rival clock, accounting for out-lap tyre warm-up.</a:t>
            </a:r>
          </a:p>
        </p:txBody>
      </p:sp>
      <p:sp>
        <p:nvSpPr>
          <p:cNvPr id="8" name="Rounded Rectangle 7"/>
          <p:cNvSpPr/>
          <p:nvPr/>
        </p:nvSpPr>
        <p:spPr>
          <a:xfrm>
            <a:off x="731520" y="5806440"/>
            <a:ext cx="10728655" cy="5943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28600"/>
          <a:lstStyle/>
          <a:p>
            <a:pPr algn="l">
              <a:spcAft>
                <a:spcPts val="0"/>
              </a:spcAft>
            </a:pPr>
            <a:r>
              <a:rPr sz="1100" b="1" i="0">
                <a:solidFill>
                  <a:srgbClr val="EDF0ED"/>
                </a:solidFill>
                <a:latin typeface="Segoe UI"/>
              </a:rPr>
              <a:t>STREAMLINED WORKFLOW: INGEST SENSORS → PROJECT PACE → SIMULATE STOPS → STRESS TEST ATTACK MARGIN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04 / PRODUCT SHOWCASE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Interactive Formula 1 Pitwall Console</a:t>
            </a:r>
          </a:p>
        </p:txBody>
      </p:sp>
      <p:pic>
        <p:nvPicPr>
          <p:cNvPr id="4" name="Picture 3" descr="frontend_ui_reference.png"/>
          <p:cNvPicPr>
            <a:picLocks noChangeAspect="1"/>
          </p:cNvPicPr>
          <p:nvPr/>
        </p:nvPicPr>
        <p:blipFill>
          <a:blip r:embed="rId3"/>
          <a:stretch>
            <a:fillRect/>
          </a:stretch>
        </p:blipFill>
        <p:spPr>
          <a:xfrm>
            <a:off x="731520" y="1463040"/>
            <a:ext cx="6766560" cy="3806190"/>
          </a:xfrm>
          <a:prstGeom prst="rect">
            <a:avLst/>
          </a:prstGeom>
        </p:spPr>
      </p:pic>
      <p:sp>
        <p:nvSpPr>
          <p:cNvPr id="5" name="Rounded Rectangle 4"/>
          <p:cNvSpPr/>
          <p:nvPr/>
        </p:nvSpPr>
        <p:spPr>
          <a:xfrm>
            <a:off x="731520" y="5394960"/>
            <a:ext cx="6766560" cy="8229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tIns="109728"/>
          <a:lstStyle/>
          <a:p>
            <a:pPr algn="l">
              <a:spcAft>
                <a:spcPts val="200"/>
              </a:spcAft>
            </a:pPr>
            <a:r>
              <a:rPr sz="1100" b="1" i="0">
                <a:solidFill>
                  <a:srgbClr val="E6FC74"/>
                </a:solidFill>
                <a:latin typeface="Segoe UI"/>
              </a:rPr>
              <a:t>LIVE TELEMETRY REPLAY &amp; SPATIAL TRACK RECONSTRUCTION (HUNGARORING)</a:t>
            </a:r>
          </a:p>
          <a:p>
            <a:pPr algn="l">
              <a:spcAft>
                <a:spcPts val="0"/>
              </a:spcAft>
            </a:pPr>
            <a:r>
              <a:rPr sz="1100" b="0" i="0">
                <a:solidFill>
                  <a:srgbClr val="A6B0A7"/>
                </a:solidFill>
                <a:latin typeface="Segoe UI"/>
              </a:rPr>
              <a:t>Sub-second driver coordinates, gear, speed &amp; throttle synchronization with audited model prediction overlays.</a:t>
            </a:r>
          </a:p>
        </p:txBody>
      </p:sp>
      <p:sp>
        <p:nvSpPr>
          <p:cNvPr id="6" name="Rounded Rectangle 5"/>
          <p:cNvSpPr/>
          <p:nvPr/>
        </p:nvSpPr>
        <p:spPr>
          <a:xfrm>
            <a:off x="7680960" y="1463040"/>
            <a:ext cx="3779215"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l">
              <a:spcAft>
                <a:spcPts val="1000"/>
              </a:spcAft>
            </a:pPr>
            <a:r>
              <a:rPr sz="1500" b="1" i="0">
                <a:solidFill>
                  <a:srgbClr val="E6FC74"/>
                </a:solidFill>
                <a:latin typeface="Segoe UI"/>
              </a:rPr>
              <a:t>KEY CONSOLE INNOVATIONS</a:t>
            </a:r>
          </a:p>
          <a:p>
            <a:pPr algn="l">
              <a:spcAft>
                <a:spcPts val="200"/>
              </a:spcAft>
            </a:pPr>
            <a:r>
              <a:rPr sz="1200" b="1" i="0">
                <a:solidFill>
                  <a:srgbClr val="E4A06D"/>
                </a:solidFill>
                <a:latin typeface="Segoe UI"/>
              </a:rPr>
              <a:t>ONE DRIVER CLOCK</a:t>
            </a:r>
          </a:p>
          <a:p>
            <a:pPr algn="l">
              <a:spcAft>
                <a:spcPts val="1000"/>
              </a:spcAft>
            </a:pPr>
            <a:r>
              <a:rPr sz="1100" b="0" i="0">
                <a:solidFill>
                  <a:srgbClr val="EDF0ED"/>
                </a:solidFill>
                <a:latin typeface="Segoe UI"/>
              </a:rPr>
              <a:t>Unifies position replay with precomputed machine learning predictions. All timing lines align to shared track coordinates.</a:t>
            </a:r>
          </a:p>
          <a:p>
            <a:pPr algn="l">
              <a:spcAft>
                <a:spcPts val="200"/>
              </a:spcAft>
            </a:pPr>
            <a:r>
              <a:rPr sz="1200" b="1" i="0">
                <a:solidFill>
                  <a:srgbClr val="E4A06D"/>
                </a:solidFill>
                <a:latin typeface="Segoe UI"/>
              </a:rPr>
              <a:t>AUTO-VERIFIED RECEIPT</a:t>
            </a:r>
          </a:p>
          <a:p>
            <a:pPr algn="l">
              <a:spcAft>
                <a:spcPts val="1000"/>
              </a:spcAft>
            </a:pPr>
            <a:r>
              <a:rPr sz="1100" b="0" i="0">
                <a:solidFill>
                  <a:srgbClr val="EDF0ED"/>
                </a:solidFill>
                <a:latin typeface="Segoe UI"/>
              </a:rPr>
              <a:t>Freezes issued forecast at Lap 25. Only reveals actual lap time when replay crosses the line, guaranteeing honest validation.</a:t>
            </a:r>
          </a:p>
          <a:p>
            <a:pPr algn="l">
              <a:spcAft>
                <a:spcPts val="200"/>
              </a:spcAft>
            </a:pPr>
            <a:r>
              <a:rPr sz="1200" b="1" i="0">
                <a:solidFill>
                  <a:srgbClr val="E4A06D"/>
                </a:solidFill>
                <a:latin typeface="Segoe UI"/>
              </a:rPr>
              <a:t>FRESH TYRE STOP RESPONSE</a:t>
            </a:r>
          </a:p>
          <a:p>
            <a:pPr algn="l">
              <a:spcAft>
                <a:spcPts val="1000"/>
              </a:spcAft>
            </a:pPr>
            <a:r>
              <a:rPr sz="1100" b="0" i="0">
                <a:solidFill>
                  <a:srgbClr val="EDF0ED"/>
                </a:solidFill>
                <a:latin typeface="Segoe UI"/>
              </a:rPr>
              <a:t>Dynamically updates tyre delta (+1.15s/lap on HARD) based on stint age and historical stop responses.</a:t>
            </a:r>
          </a:p>
          <a:p>
            <a:pPr algn="l">
              <a:spcAft>
                <a:spcPts val="200"/>
              </a:spcAft>
            </a:pPr>
            <a:r>
              <a:rPr sz="1200" b="1" i="0">
                <a:solidFill>
                  <a:srgbClr val="E4A06D"/>
                </a:solidFill>
                <a:latin typeface="Segoe UI"/>
              </a:rPr>
              <a:t>SIGNAL INTEGRITY AUDIT</a:t>
            </a:r>
          </a:p>
          <a:p>
            <a:pPr algn="l">
              <a:spcAft>
                <a:spcPts val="1000"/>
              </a:spcAft>
            </a:pPr>
            <a:r>
              <a:rPr sz="1100" b="0" i="0">
                <a:solidFill>
                  <a:srgbClr val="EDF0ED"/>
                </a:solidFill>
                <a:latin typeface="Segoe UI"/>
              </a:rPr>
              <a:t>Reports sensor latency (weather feed 31s old, 100% traffic coverage). Transparently warns that carcass temp &amp; wear are omitted.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05 / STRATEGY EDGE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Pricing the Undercut: Attack Budgeting Under Uncertainty</a:t>
            </a:r>
          </a:p>
        </p:txBody>
      </p:sp>
      <p:sp>
        <p:nvSpPr>
          <p:cNvPr id="4" name="Rounded Rectangle 3"/>
          <p:cNvSpPr/>
          <p:nvPr/>
        </p:nvSpPr>
        <p:spPr>
          <a:xfrm>
            <a:off x="7315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l">
              <a:spcAft>
                <a:spcPts val="600"/>
              </a:spcAft>
            </a:pPr>
            <a:r>
              <a:rPr sz="1600" b="1" i="0">
                <a:solidFill>
                  <a:srgbClr val="E6FC74"/>
                </a:solidFill>
                <a:latin typeface="Segoe UI"/>
              </a:rPr>
              <a:t>THE ATTACK BUDGET WATERFALL</a:t>
            </a:r>
          </a:p>
          <a:p>
            <a:pPr algn="l">
              <a:spcAft>
                <a:spcPts val="1200"/>
              </a:spcAft>
            </a:pPr>
            <a:r>
              <a:rPr sz="1200" b="0" i="0">
                <a:solidFill>
                  <a:srgbClr val="A6B0A7"/>
                </a:solidFill>
                <a:latin typeface="Segoe UI"/>
              </a:rPr>
              <a:t>An undercut is not an abstract win probability; it is a concrete seconds budget that must absorb real-world execution costs:</a:t>
            </a:r>
          </a:p>
          <a:p>
            <a:pPr algn="l">
              <a:spcAft>
                <a:spcPts val="800"/>
              </a:spcAft>
            </a:pPr>
            <a:r>
              <a:rPr sz="1300" b="1" i="0">
                <a:solidFill>
                  <a:srgbClr val="E6FC74"/>
                </a:solidFill>
                <a:latin typeface="Segoe UI"/>
              </a:rPr>
              <a:t>Fresh Tyre Advantage (3 laps):  +3.95 s</a:t>
            </a:r>
          </a:p>
          <a:p>
            <a:pPr algn="l">
              <a:spcAft>
                <a:spcPts val="800"/>
              </a:spcAft>
            </a:pPr>
            <a:r>
              <a:rPr sz="1300" b="1" i="0">
                <a:solidFill>
                  <a:srgbClr val="E4A06D"/>
                </a:solidFill>
                <a:latin typeface="Segoe UI"/>
              </a:rPr>
              <a:t>Rival In-Lap Pace Response:  −0.08 s</a:t>
            </a:r>
          </a:p>
          <a:p>
            <a:pPr algn="l">
              <a:spcAft>
                <a:spcPts val="800"/>
              </a:spcAft>
            </a:pPr>
            <a:r>
              <a:rPr sz="1300" b="1" i="0">
                <a:solidFill>
                  <a:srgbClr val="E4A06D"/>
                </a:solidFill>
                <a:latin typeface="Segoe UI"/>
              </a:rPr>
              <a:t>Current Track Interval to Cover:  −1.50 s</a:t>
            </a:r>
          </a:p>
          <a:p>
            <a:pPr algn="l">
              <a:spcAft>
                <a:spcPts val="800"/>
              </a:spcAft>
            </a:pPr>
            <a:r>
              <a:rPr sz="1300" b="1" i="0">
                <a:solidFill>
                  <a:srgbClr val="E4A06D"/>
                </a:solidFill>
                <a:latin typeface="Segoe UI"/>
              </a:rPr>
              <a:t>Cold Out-Lap Warm-Up Penalty:  −0.70 s</a:t>
            </a:r>
          </a:p>
          <a:p>
            <a:pPr algn="l">
              <a:spcAft>
                <a:spcPts val="800"/>
              </a:spcAft>
            </a:pPr>
            <a:r>
              <a:rPr sz="1300" b="1" i="0">
                <a:solidFill>
                  <a:srgbClr val="E6FC74"/>
                </a:solidFill>
                <a:latin typeface="Segoe UI"/>
              </a:rPr>
              <a:t>NET ATTACK MARGIN (CLEAN AIR):  +1.67 s</a:t>
            </a:r>
          </a:p>
          <a:p>
            <a:pPr algn="l">
              <a:spcAft>
                <a:spcPts val="800"/>
              </a:spcAft>
            </a:pPr>
            <a:r>
              <a:rPr sz="1300" b="1" i="0">
                <a:solidFill>
                  <a:srgbClr val="E4A06D"/>
                </a:solidFill>
                <a:latin typeface="Segoe UI"/>
              </a:rPr>
              <a:t>ADD 2.0s REJOIN TRAFFIC DELAY:  −0.33 s</a:t>
            </a:r>
          </a:p>
          <a:p>
            <a:pPr algn="l">
              <a:spcAft>
                <a:spcPts val="0"/>
              </a:spcAft>
            </a:pPr>
            <a:r>
              <a:rPr sz="1100" b="0" i="0">
                <a:solidFill>
                  <a:srgbClr val="647066"/>
                </a:solidFill>
                <a:latin typeface="Segoe UI"/>
              </a:rPr>
              <a:t>Shared pit lane transit time cancels out because both cars must stop. The margin depends entirely on out-lap pace and traffic.</a:t>
            </a:r>
          </a:p>
        </p:txBody>
      </p:sp>
      <p:sp>
        <p:nvSpPr>
          <p:cNvPr id="5" name="Rounded Rectangle 4"/>
          <p:cNvSpPr/>
          <p:nvPr/>
        </p:nvSpPr>
        <p:spPr>
          <a:xfrm>
            <a:off x="6217920" y="1463040"/>
            <a:ext cx="521208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l">
              <a:spcAft>
                <a:spcPts val="800"/>
              </a:spcAft>
            </a:pPr>
            <a:r>
              <a:rPr sz="1600" b="1" i="0">
                <a:solidFill>
                  <a:srgbClr val="E4A06D"/>
                </a:solidFill>
                <a:latin typeface="Segoe UI"/>
              </a:rPr>
              <a:t>STRESS TESTING FRAGILE ASSUMPTIONS</a:t>
            </a:r>
          </a:p>
          <a:p>
            <a:pPr algn="l">
              <a:spcAft>
                <a:spcPts val="1200"/>
              </a:spcAft>
            </a:pPr>
            <a:r>
              <a:rPr sz="1200" b="0" i="0">
                <a:solidFill>
                  <a:srgbClr val="EDF0ED"/>
                </a:solidFill>
                <a:latin typeface="Segoe UI"/>
              </a:rPr>
              <a:t>In Formula 1, pit stops fail because teams assume deterministic clean air. PITWALL surfaces the variance:</a:t>
            </a:r>
          </a:p>
          <a:p>
            <a:pPr algn="l">
              <a:spcAft>
                <a:spcPts val="300"/>
              </a:spcAft>
            </a:pPr>
            <a:r>
              <a:rPr sz="1200" b="1" i="0">
                <a:solidFill>
                  <a:srgbClr val="E6FC74"/>
                </a:solidFill>
                <a:latin typeface="Segoe UI"/>
              </a:rPr>
              <a:t>EMPIRICAL UNCERTAINTY BANDS</a:t>
            </a:r>
          </a:p>
          <a:p>
            <a:pPr algn="l">
              <a:spcAft>
                <a:spcPts val="1200"/>
              </a:spcAft>
            </a:pPr>
            <a:r>
              <a:rPr sz="1300" b="1" i="0">
                <a:solidFill>
                  <a:srgbClr val="EDF0ED"/>
                </a:solidFill>
                <a:latin typeface="Segoe UI"/>
              </a:rPr>
              <a:t>Clean Rejoin Interval:  −6.93 s  to  +10.26 s
Stressed Traffic Interval:  −8.93 s  to  +8.26 s</a:t>
            </a:r>
          </a:p>
          <a:p>
            <a:pPr algn="l">
              <a:spcAft>
                <a:spcPts val="300"/>
              </a:spcAft>
            </a:pPr>
            <a:r>
              <a:rPr sz="1200" b="1" i="0">
                <a:solidFill>
                  <a:srgbClr val="E4A06D"/>
                </a:solidFill>
                <a:latin typeface="Segoe UI"/>
              </a:rPr>
              <a:t>CRITICAL INSIGHT FOR THE RACE STRATEGIST</a:t>
            </a:r>
          </a:p>
          <a:p>
            <a:pPr algn="l">
              <a:spcAft>
                <a:spcPts val="1400"/>
              </a:spcAft>
            </a:pPr>
            <a:r>
              <a:rPr sz="1200" b="0" i="0">
                <a:solidFill>
                  <a:srgbClr val="A6B0A7"/>
                </a:solidFill>
                <a:latin typeface="Segoe UI"/>
              </a:rPr>
              <a:t>Because both confidence intervals cross zero, the undercut is NOT a guaranteed overtake. A 2-second rejoin traffic delay flips the expected value negative.</a:t>
            </a:r>
          </a:p>
          <a:p>
            <a:pPr algn="l">
              <a:spcAft>
                <a:spcPts val="300"/>
              </a:spcAft>
            </a:pPr>
            <a:r>
              <a:rPr sz="1200" b="1" i="0">
                <a:solidFill>
                  <a:srgbClr val="E6FC74"/>
                </a:solidFill>
                <a:latin typeface="Segoe UI"/>
              </a:rPr>
              <a:t>DECISION SUPPORT, NOT BLACK-BOX COMMANDS</a:t>
            </a:r>
          </a:p>
          <a:p>
            <a:pPr algn="l">
              <a:spcAft>
                <a:spcPts val="0"/>
              </a:spcAft>
            </a:pPr>
            <a:r>
              <a:rPr sz="1200" b="0" i="0">
                <a:solidFill>
                  <a:srgbClr val="A6B0A7"/>
                </a:solidFill>
                <a:latin typeface="Segoe UI"/>
              </a:rPr>
              <a:t>Rather than barking 'Box now', PITWALL reveals the critical traffic threshold so the strategist can abort if a backmarker doesn't yield.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06 / BENCHMARK RESULTS</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Rigorous Chronological Evaluation Across 12 Races</a:t>
            </a:r>
          </a:p>
        </p:txBody>
      </p:sp>
      <p:sp>
        <p:nvSpPr>
          <p:cNvPr id="4" name="Rounded Rectangle 3"/>
          <p:cNvSpPr/>
          <p:nvPr/>
        </p:nvSpPr>
        <p:spPr>
          <a:xfrm>
            <a:off x="73152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a:lstStyle/>
          <a:p>
            <a:pPr algn="l">
              <a:spcAft>
                <a:spcPts val="200"/>
              </a:spcAft>
            </a:pPr>
            <a:r>
              <a:rPr sz="1000" b="1" i="0">
                <a:solidFill>
                  <a:srgbClr val="647066"/>
                </a:solidFill>
                <a:latin typeface="Segoe UI"/>
              </a:rPr>
              <a:t>PACE FORECAST RMSE</a:t>
            </a:r>
          </a:p>
          <a:p>
            <a:pPr algn="l">
              <a:spcAft>
                <a:spcPts val="200"/>
              </a:spcAft>
            </a:pPr>
            <a:r>
              <a:rPr sz="2400" b="1" i="0">
                <a:solidFill>
                  <a:srgbClr val="E6FC74"/>
                </a:solidFill>
                <a:latin typeface="Segoe UI"/>
              </a:rPr>
              <a:t>0.743 s</a:t>
            </a:r>
          </a:p>
          <a:p>
            <a:pPr algn="l">
              <a:spcAft>
                <a:spcPts val="200"/>
              </a:spcAft>
            </a:pPr>
            <a:r>
              <a:rPr sz="1200" b="1" i="0">
                <a:solidFill>
                  <a:srgbClr val="E4A06D"/>
                </a:solidFill>
                <a:latin typeface="Segoe UI"/>
              </a:rPr>
              <a:t>12.0% Lower Error</a:t>
            </a:r>
          </a:p>
          <a:p>
            <a:pPr algn="l">
              <a:spcAft>
                <a:spcPts val="0"/>
              </a:spcAft>
            </a:pPr>
            <a:r>
              <a:rPr sz="1000" b="0" i="0">
                <a:solidFill>
                  <a:srgbClr val="A6B0A7"/>
                </a:solidFill>
                <a:latin typeface="Segoe UI"/>
              </a:rPr>
              <a:t>vs 0.844s persistence (6,831 forecasts)</a:t>
            </a:r>
          </a:p>
        </p:txBody>
      </p:sp>
      <p:sp>
        <p:nvSpPr>
          <p:cNvPr id="5" name="Rounded Rectangle 4"/>
          <p:cNvSpPr/>
          <p:nvPr/>
        </p:nvSpPr>
        <p:spPr>
          <a:xfrm>
            <a:off x="342900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a:lstStyle/>
          <a:p>
            <a:pPr algn="l">
              <a:spcAft>
                <a:spcPts val="200"/>
              </a:spcAft>
            </a:pPr>
            <a:r>
              <a:rPr sz="1000" b="1" i="0">
                <a:solidFill>
                  <a:srgbClr val="647066"/>
                </a:solidFill>
                <a:latin typeface="Segoe UI"/>
              </a:rPr>
              <a:t>RIVAL BATTLE RMSE</a:t>
            </a:r>
          </a:p>
          <a:p>
            <a:pPr algn="l">
              <a:spcAft>
                <a:spcPts val="200"/>
              </a:spcAft>
            </a:pPr>
            <a:r>
              <a:rPr sz="2400" b="1" i="0">
                <a:solidFill>
                  <a:srgbClr val="E6FC74"/>
                </a:solidFill>
                <a:latin typeface="Segoe UI"/>
              </a:rPr>
              <a:t>2.197 s</a:t>
            </a:r>
          </a:p>
          <a:p>
            <a:pPr algn="l">
              <a:spcAft>
                <a:spcPts val="200"/>
              </a:spcAft>
            </a:pPr>
            <a:r>
              <a:rPr sz="1200" b="1" i="0">
                <a:solidFill>
                  <a:srgbClr val="E4A06D"/>
                </a:solidFill>
                <a:latin typeface="Segoe UI"/>
              </a:rPr>
              <a:t>10.0% Lower Error</a:t>
            </a:r>
          </a:p>
          <a:p>
            <a:pPr algn="l">
              <a:spcAft>
                <a:spcPts val="0"/>
              </a:spcAft>
            </a:pPr>
            <a:r>
              <a:rPr sz="1000" b="0" i="0">
                <a:solidFill>
                  <a:srgbClr val="A6B0A7"/>
                </a:solidFill>
                <a:latin typeface="Segoe UI"/>
              </a:rPr>
              <a:t>vs 2.441s rolling median (3,128 battles)</a:t>
            </a:r>
          </a:p>
        </p:txBody>
      </p:sp>
      <p:sp>
        <p:nvSpPr>
          <p:cNvPr id="6" name="Rounded Rectangle 5"/>
          <p:cNvSpPr/>
          <p:nvPr/>
        </p:nvSpPr>
        <p:spPr>
          <a:xfrm>
            <a:off x="612648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a:lstStyle/>
          <a:p>
            <a:pPr algn="l">
              <a:spcAft>
                <a:spcPts val="200"/>
              </a:spcAft>
            </a:pPr>
            <a:r>
              <a:rPr sz="1000" b="1" i="0">
                <a:solidFill>
                  <a:srgbClr val="647066"/>
                </a:solidFill>
                <a:latin typeface="Segoe UI"/>
              </a:rPr>
              <a:t>LOSS ALERT PRECISION</a:t>
            </a:r>
          </a:p>
          <a:p>
            <a:pPr algn="l">
              <a:spcAft>
                <a:spcPts val="200"/>
              </a:spcAft>
            </a:pPr>
            <a:r>
              <a:rPr sz="2400" b="1" i="0">
                <a:solidFill>
                  <a:srgbClr val="E6FC74"/>
                </a:solidFill>
                <a:latin typeface="Segoe UI"/>
              </a:rPr>
              <a:t>78.1 %</a:t>
            </a:r>
          </a:p>
          <a:p>
            <a:pPr algn="l">
              <a:spcAft>
                <a:spcPts val="200"/>
              </a:spcAft>
            </a:pPr>
            <a:r>
              <a:rPr sz="1200" b="1" i="0">
                <a:solidFill>
                  <a:srgbClr val="E4A06D"/>
                </a:solidFill>
                <a:latin typeface="Segoe UI"/>
              </a:rPr>
              <a:t>+6.8% Accuracy</a:t>
            </a:r>
          </a:p>
          <a:p>
            <a:pPr algn="l">
              <a:spcAft>
                <a:spcPts val="0"/>
              </a:spcAft>
            </a:pPr>
            <a:r>
              <a:rPr sz="1000" b="0" i="0">
                <a:solidFill>
                  <a:srgbClr val="A6B0A7"/>
                </a:solidFill>
                <a:latin typeface="Segoe UI"/>
              </a:rPr>
              <a:t>Alerts for losing &gt;2s (saves 73 false alarms)</a:t>
            </a:r>
          </a:p>
        </p:txBody>
      </p:sp>
      <p:sp>
        <p:nvSpPr>
          <p:cNvPr id="7" name="Rounded Rectangle 6"/>
          <p:cNvSpPr/>
          <p:nvPr/>
        </p:nvSpPr>
        <p:spPr>
          <a:xfrm>
            <a:off x="8823960" y="1463040"/>
            <a:ext cx="2560320" cy="164592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164592"/>
          <a:lstStyle/>
          <a:p>
            <a:pPr algn="l">
              <a:spcAft>
                <a:spcPts val="200"/>
              </a:spcAft>
            </a:pPr>
            <a:r>
              <a:rPr sz="1000" b="1" i="0">
                <a:solidFill>
                  <a:srgbClr val="647066"/>
                </a:solidFill>
                <a:latin typeface="Segoe UI"/>
              </a:rPr>
              <a:t>PIT STOP RECOVERY</a:t>
            </a:r>
          </a:p>
          <a:p>
            <a:pPr algn="l">
              <a:spcAft>
                <a:spcPts val="200"/>
              </a:spcAft>
            </a:pPr>
            <a:r>
              <a:rPr sz="2400" b="1" i="0">
                <a:solidFill>
                  <a:srgbClr val="E6FC74"/>
                </a:solidFill>
                <a:latin typeface="Segoe UI"/>
              </a:rPr>
              <a:t>0.672 s</a:t>
            </a:r>
          </a:p>
          <a:p>
            <a:pPr algn="l">
              <a:spcAft>
                <a:spcPts val="200"/>
              </a:spcAft>
            </a:pPr>
            <a:r>
              <a:rPr sz="1200" b="1" i="0">
                <a:solidFill>
                  <a:srgbClr val="E4A06D"/>
                </a:solidFill>
                <a:latin typeface="Segoe UI"/>
              </a:rPr>
              <a:t>11.8% Lower Error</a:t>
            </a:r>
          </a:p>
          <a:p>
            <a:pPr algn="l">
              <a:spcAft>
                <a:spcPts val="0"/>
              </a:spcAft>
            </a:pPr>
            <a:r>
              <a:rPr sz="1000" b="0" i="0">
                <a:solidFill>
                  <a:srgbClr val="A6B0A7"/>
                </a:solidFill>
                <a:latin typeface="Segoe UI"/>
              </a:rPr>
              <a:t>vs 0.761s season mean (107 race stops)</a:t>
            </a:r>
          </a:p>
        </p:txBody>
      </p:sp>
      <p:sp>
        <p:nvSpPr>
          <p:cNvPr id="8" name="Rounded Rectangle 7"/>
          <p:cNvSpPr/>
          <p:nvPr/>
        </p:nvSpPr>
        <p:spPr>
          <a:xfrm>
            <a:off x="731520" y="3337560"/>
            <a:ext cx="10728655" cy="288036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228600"/>
          <a:lstStyle/>
          <a:p>
            <a:pPr algn="l">
              <a:spcAft>
                <a:spcPts val="1200"/>
              </a:spcAft>
            </a:pPr>
            <a:r>
              <a:rPr sz="1200" b="1" i="0">
                <a:solidFill>
                  <a:srgbClr val="E6FC74"/>
                </a:solidFill>
                <a:latin typeface="Segoe UI"/>
              </a:rPr>
              <a:t>CHRONOLOGICAL BENCHMARK AUDIT (EXPANDING WINDOW TRAINING THROUGH R08, REUSED EVALUATION R09–R12)</a:t>
            </a:r>
          </a:p>
          <a:p>
            <a:pPr algn="l">
              <a:spcAft>
                <a:spcPts val="400"/>
              </a:spcAft>
            </a:pPr>
            <a:r>
              <a:rPr sz="1100" b="1" i="0">
                <a:solidFill>
                  <a:srgbClr val="E6FC74"/>
                </a:solidFill>
                <a:latin typeface="Segoe UI"/>
              </a:rPr>
              <a:t>TASK / TARGET                  | PITWALL MODEL        | BENCHMARK BASELINE        | IMPROVEMENT        | SAMPLE SIZE (N)</a:t>
            </a:r>
          </a:p>
          <a:p>
            <a:pPr algn="l">
              <a:spcAft>
                <a:spcPts val="400"/>
              </a:spcAft>
            </a:pPr>
            <a:r>
              <a:rPr sz="1100" b="0" i="0">
                <a:solidFill>
                  <a:srgbClr val="EDF0ED"/>
                </a:solidFill>
                <a:latin typeface="Segoe UI"/>
              </a:rPr>
              <a:t>Future Lap Pace (1 to 3 laps)  | 0.743 s RMSE         | 0.844 s (Persistence)     | 12.0% lower error  | 6,831 scored laps</a:t>
            </a:r>
          </a:p>
          <a:p>
            <a:pPr algn="l">
              <a:spcAft>
                <a:spcPts val="400"/>
              </a:spcAft>
            </a:pPr>
            <a:r>
              <a:rPr sz="1100" b="0" i="0">
                <a:solidFill>
                  <a:srgbClr val="EDF0ED"/>
                </a:solidFill>
                <a:latin typeface="Segoe UI"/>
              </a:rPr>
              <a:t>Rival Gap Evolution            | 2.197 s RMSE         | 2.441 s (Rolling Median)  | 10.0% lower error  | 3,128 battles</a:t>
            </a:r>
          </a:p>
          <a:p>
            <a:pPr algn="l">
              <a:spcAft>
                <a:spcPts val="400"/>
              </a:spcAft>
            </a:pPr>
            <a:r>
              <a:rPr sz="1100" b="0" i="0">
                <a:solidFill>
                  <a:srgbClr val="EDF0ED"/>
                </a:solidFill>
                <a:latin typeface="Segoe UI"/>
              </a:rPr>
              <a:t>Rival Loss Alert (&gt;2.0s lost)  | 78.1% Precision      | 71.3% Precision           | +6.8% precision    | 73 false alerts cut</a:t>
            </a:r>
          </a:p>
          <a:p>
            <a:pPr algn="l">
              <a:spcAft>
                <a:spcPts val="400"/>
              </a:spcAft>
            </a:pPr>
            <a:r>
              <a:rPr sz="1100" b="0" i="0">
                <a:solidFill>
                  <a:srgbClr val="EDF0ED"/>
                </a:solidFill>
                <a:latin typeface="Segoe UI"/>
              </a:rPr>
              <a:t>Pit Stop Rubber Gain           | 0.672 s RMSE         | 0.761 s (Historical Mean) | 11.8% lower error  | 107 validated stops</a:t>
            </a:r>
          </a:p>
          <a:p>
            <a:pPr algn="l">
              <a:spcAft>
                <a:spcPts val="400"/>
              </a:spcAft>
            </a:pPr>
            <a:r>
              <a:rPr sz="1100" b="0" i="0">
                <a:solidFill>
                  <a:srgbClr val="EDF0ED"/>
                </a:solidFill>
                <a:latin typeface="Segoe UI"/>
              </a:rPr>
              <a:t>Pace Interval Coverage         | 92.5% empirical      | 90.0% nominal target      | Well-calibrated    | 6,831 forecasts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07 / SYSTEM ARCHITECTURE</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End-to-End Motorsport Data &amp; Machine Learning Pipeline</a:t>
            </a:r>
          </a:p>
        </p:txBody>
      </p:sp>
      <p:sp>
        <p:nvSpPr>
          <p:cNvPr id="4" name="Rounded Rectangle 3"/>
          <p:cNvSpPr/>
          <p:nvPr/>
        </p:nvSpPr>
        <p:spPr>
          <a:xfrm>
            <a:off x="73152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LAYER 01</a:t>
            </a:r>
          </a:p>
          <a:p>
            <a:pPr algn="l">
              <a:spcAft>
                <a:spcPts val="400"/>
              </a:spcAft>
            </a:pPr>
            <a:r>
              <a:rPr sz="1500" b="1" i="0">
                <a:solidFill>
                  <a:srgbClr val="EDF0ED"/>
                </a:solidFill>
                <a:latin typeface="Segoe UI"/>
              </a:rPr>
              <a:t>INGESTION &amp; CLEANING</a:t>
            </a:r>
          </a:p>
          <a:p>
            <a:pPr algn="l">
              <a:spcAft>
                <a:spcPts val="1400"/>
              </a:spcAft>
            </a:pPr>
            <a:r>
              <a:rPr sz="1200" b="1" i="0">
                <a:solidFill>
                  <a:srgbClr val="E4A06D"/>
                </a:solidFill>
                <a:latin typeface="Segoe UI"/>
              </a:rPr>
              <a:t>FastF1 2026 Season</a:t>
            </a:r>
          </a:p>
          <a:p>
            <a:pPr algn="l">
              <a:spcAft>
                <a:spcPts val="0"/>
              </a:spcAft>
            </a:pPr>
            <a:r>
              <a:rPr sz="1200" b="0" i="0">
                <a:solidFill>
                  <a:srgbClr val="A6B0A7"/>
                </a:solidFill>
                <a:latin typeface="Segoe UI"/>
              </a:rPr>
              <a:t>• 12 Grand Prix events (14,310 laps)
• Sub-second driver spatial telemetry
• Weather &amp; track temperature feeds
• Strict filtering of safety cars &amp; out-laps</a:t>
            </a:r>
          </a:p>
        </p:txBody>
      </p:sp>
      <p:sp>
        <p:nvSpPr>
          <p:cNvPr id="5" name="Rounded Rectangle 4"/>
          <p:cNvSpPr/>
          <p:nvPr/>
        </p:nvSpPr>
        <p:spPr>
          <a:xfrm>
            <a:off x="342900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LAYER 02</a:t>
            </a:r>
          </a:p>
          <a:p>
            <a:pPr algn="l">
              <a:spcAft>
                <a:spcPts val="400"/>
              </a:spcAft>
            </a:pPr>
            <a:r>
              <a:rPr sz="1500" b="1" i="0">
                <a:solidFill>
                  <a:srgbClr val="EDF0ED"/>
                </a:solidFill>
                <a:latin typeface="Segoe UI"/>
              </a:rPr>
              <a:t>FEATURE ENGINEERING</a:t>
            </a:r>
          </a:p>
          <a:p>
            <a:pPr algn="l">
              <a:spcAft>
                <a:spcPts val="1400"/>
              </a:spcAft>
            </a:pPr>
            <a:r>
              <a:rPr sz="1200" b="1" i="0">
                <a:solidFill>
                  <a:srgbClr val="E4A06D"/>
                </a:solidFill>
                <a:latin typeface="Segoe UI"/>
              </a:rPr>
              <a:t>Physics Identification</a:t>
            </a:r>
          </a:p>
          <a:p>
            <a:pPr algn="l">
              <a:spcAft>
                <a:spcPts val="0"/>
              </a:spcAft>
            </a:pPr>
            <a:r>
              <a:rPr sz="1200" b="0" i="0">
                <a:solidFill>
                  <a:srgbClr val="A6B0A7"/>
                </a:solidFill>
                <a:latin typeface="Segoe UI"/>
              </a:rPr>
              <a:t>• Estimated fuel lambda (-0.0294 s/kg)
• Track evolution saturation log-basis
• Measured traffic proximity gaps
• Saturating tyre age basis functions</a:t>
            </a:r>
          </a:p>
        </p:txBody>
      </p:sp>
      <p:sp>
        <p:nvSpPr>
          <p:cNvPr id="6" name="Rounded Rectangle 5"/>
          <p:cNvSpPr/>
          <p:nvPr/>
        </p:nvSpPr>
        <p:spPr>
          <a:xfrm>
            <a:off x="612648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LAYER 03</a:t>
            </a:r>
          </a:p>
          <a:p>
            <a:pPr algn="l">
              <a:spcAft>
                <a:spcPts val="400"/>
              </a:spcAft>
            </a:pPr>
            <a:r>
              <a:rPr sz="1500" b="1" i="0">
                <a:solidFill>
                  <a:srgbClr val="EDF0ED"/>
                </a:solidFill>
                <a:latin typeface="Segoe UI"/>
              </a:rPr>
              <a:t>MODEL ENSEMBLE</a:t>
            </a:r>
          </a:p>
          <a:p>
            <a:pPr algn="l">
              <a:spcAft>
                <a:spcPts val="1400"/>
              </a:spcAft>
            </a:pPr>
            <a:r>
              <a:rPr sz="1200" b="1" i="0">
                <a:solidFill>
                  <a:srgbClr val="E4A06D"/>
                </a:solidFill>
                <a:latin typeface="Segoe UI"/>
              </a:rPr>
              <a:t>Robust Chronological ML</a:t>
            </a:r>
          </a:p>
          <a:p>
            <a:pPr algn="l">
              <a:spcAft>
                <a:spcPts val="0"/>
              </a:spcAft>
            </a:pPr>
            <a:r>
              <a:rPr sz="1200" b="0" i="0">
                <a:solidFill>
                  <a:srgbClr val="A6B0A7"/>
                </a:solidFill>
                <a:latin typeface="Segoe UI"/>
              </a:rPr>
              <a:t>• 17 Pace candidates evaluated
• State-space pace estimation + Ridge
• Battle relative-correction models
• Calibrated uncertainty prediction bands</a:t>
            </a:r>
          </a:p>
        </p:txBody>
      </p:sp>
      <p:sp>
        <p:nvSpPr>
          <p:cNvPr id="7" name="Rounded Rectangle 6"/>
          <p:cNvSpPr/>
          <p:nvPr/>
        </p:nvSpPr>
        <p:spPr>
          <a:xfrm>
            <a:off x="8823960" y="1463040"/>
            <a:ext cx="2560320" cy="47548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182880" rIns="182880" tIns="228600"/>
          <a:lstStyle/>
          <a:p>
            <a:pPr algn="l">
              <a:spcAft>
                <a:spcPts val="200"/>
              </a:spcAft>
            </a:pPr>
            <a:r>
              <a:rPr sz="1100" b="1" i="0">
                <a:solidFill>
                  <a:srgbClr val="E6FC74"/>
                </a:solidFill>
                <a:latin typeface="Segoe UI"/>
              </a:rPr>
              <a:t>LAYER 04</a:t>
            </a:r>
          </a:p>
          <a:p>
            <a:pPr algn="l">
              <a:spcAft>
                <a:spcPts val="400"/>
              </a:spcAft>
            </a:pPr>
            <a:r>
              <a:rPr sz="1500" b="1" i="0">
                <a:solidFill>
                  <a:srgbClr val="EDF0ED"/>
                </a:solidFill>
                <a:latin typeface="Segoe UI"/>
              </a:rPr>
              <a:t>OFFLINE RACE CONSOLE</a:t>
            </a:r>
          </a:p>
          <a:p>
            <a:pPr algn="l">
              <a:spcAft>
                <a:spcPts val="1400"/>
              </a:spcAft>
            </a:pPr>
            <a:r>
              <a:rPr sz="1200" b="1" i="0">
                <a:solidFill>
                  <a:srgbClr val="E4A06D"/>
                </a:solidFill>
                <a:latin typeface="Segoe UI"/>
              </a:rPr>
              <a:t>High-Performance UI</a:t>
            </a:r>
          </a:p>
          <a:p>
            <a:pPr algn="l">
              <a:spcAft>
                <a:spcPts val="0"/>
              </a:spcAft>
            </a:pPr>
            <a:r>
              <a:rPr sz="1200" b="0" i="0">
                <a:solidFill>
                  <a:srgbClr val="A6B0A7"/>
                </a:solidFill>
                <a:latin typeface="Segoe UI"/>
              </a:rPr>
              <a:t>• 100% Client-side HTML5/Vanilla JS
• Synchronized circuit spatial replay
• One Driver Clock telemetry alignment
• Portable zero-cloud jury deployment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08 / SCIENTIFIC INTEGRITY</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Transparent Modeling Boundaries &amp; Engineering Rigor</a:t>
            </a:r>
          </a:p>
        </p:txBody>
      </p:sp>
      <p:sp>
        <p:nvSpPr>
          <p:cNvPr id="4" name="Rounded Rectangle 3"/>
          <p:cNvSpPr/>
          <p:nvPr/>
        </p:nvSpPr>
        <p:spPr>
          <a:xfrm>
            <a:off x="731520" y="146304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l">
              <a:spcAft>
                <a:spcPts val="600"/>
              </a:spcAft>
            </a:pPr>
            <a:r>
              <a:rPr sz="1400" b="1" i="0">
                <a:solidFill>
                  <a:srgbClr val="E6FC74"/>
                </a:solidFill>
                <a:latin typeface="Segoe UI"/>
              </a:rPr>
              <a:t>HONEST REUSED EVALUATION</a:t>
            </a:r>
          </a:p>
          <a:p>
            <a:pPr algn="l">
              <a:spcAft>
                <a:spcPts val="0"/>
              </a:spcAft>
            </a:pPr>
            <a:r>
              <a:rPr sz="1200" b="0" i="0">
                <a:solidFill>
                  <a:srgbClr val="EDF0ED"/>
                </a:solidFill>
                <a:latin typeface="Segoe UI"/>
              </a:rPr>
              <a:t>Races R09–R12 were inspected during previous revisions. We transparently report them as a reused evaluation set with expanding historical training, rather than claiming an unexamined blind trial.</a:t>
            </a:r>
          </a:p>
        </p:txBody>
      </p:sp>
      <p:sp>
        <p:nvSpPr>
          <p:cNvPr id="5" name="Rounded Rectangle 4"/>
          <p:cNvSpPr/>
          <p:nvPr/>
        </p:nvSpPr>
        <p:spPr>
          <a:xfrm>
            <a:off x="6172200" y="146304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l">
              <a:spcAft>
                <a:spcPts val="600"/>
              </a:spcAft>
            </a:pPr>
            <a:r>
              <a:rPr sz="1400" b="1" i="0">
                <a:solidFill>
                  <a:srgbClr val="E6FC74"/>
                </a:solidFill>
                <a:latin typeface="Segoe UI"/>
              </a:rPr>
              <a:t>NO SENSOR HALLUCINATION</a:t>
            </a:r>
          </a:p>
          <a:p>
            <a:pPr algn="l">
              <a:spcAft>
                <a:spcPts val="0"/>
              </a:spcAft>
            </a:pPr>
            <a:r>
              <a:rPr sz="1200" b="0" i="0">
                <a:solidFill>
                  <a:srgbClr val="EDF0ED"/>
                </a:solidFill>
                <a:latin typeface="Segoe UI"/>
              </a:rPr>
              <a:t>Formula 1 teams guard internal tyre carcass temperatures and pressure sensors. Rather than hallucinating fake physical wear percentages, PITWALL models observable pace steps and flags missing telemetry.</a:t>
            </a:r>
          </a:p>
        </p:txBody>
      </p:sp>
      <p:sp>
        <p:nvSpPr>
          <p:cNvPr id="6" name="Rounded Rectangle 5"/>
          <p:cNvSpPr/>
          <p:nvPr/>
        </p:nvSpPr>
        <p:spPr>
          <a:xfrm>
            <a:off x="731520" y="388620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l">
              <a:spcAft>
                <a:spcPts val="600"/>
              </a:spcAft>
            </a:pPr>
            <a:r>
              <a:rPr sz="1400" b="1" i="0">
                <a:solidFill>
                  <a:srgbClr val="E6FC74"/>
                </a:solidFill>
                <a:latin typeface="Segoe UI"/>
              </a:rPr>
              <a:t>NO UNVALIDATED 'POSITIONS WON' CLAIMS</a:t>
            </a:r>
          </a:p>
          <a:p>
            <a:pPr algn="l">
              <a:spcAft>
                <a:spcPts val="0"/>
              </a:spcAft>
            </a:pPr>
            <a:r>
              <a:rPr sz="1200" b="0" i="0">
                <a:solidFill>
                  <a:srgbClr val="EDF0ED"/>
                </a:solidFill>
                <a:latin typeface="Segoe UI"/>
              </a:rPr>
              <a:t>Winning an undercut depends on competitor pit crew times, traffic, and track evolution. We price the required attack budget and report interval overlaps rather than making wild counterfactual win claims.</a:t>
            </a:r>
          </a:p>
        </p:txBody>
      </p:sp>
      <p:sp>
        <p:nvSpPr>
          <p:cNvPr id="7" name="Rounded Rectangle 6"/>
          <p:cNvSpPr/>
          <p:nvPr/>
        </p:nvSpPr>
        <p:spPr>
          <a:xfrm>
            <a:off x="6172200" y="3886200"/>
            <a:ext cx="5257800" cy="224028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l">
              <a:spcAft>
                <a:spcPts val="600"/>
              </a:spcAft>
            </a:pPr>
            <a:r>
              <a:rPr sz="1400" b="1" i="0">
                <a:solidFill>
                  <a:srgbClr val="E6FC74"/>
                </a:solidFill>
                <a:latin typeface="Segoe UI"/>
              </a:rPr>
              <a:t>EXPLICIT ABSTENTION LOGIC</a:t>
            </a:r>
          </a:p>
          <a:p>
            <a:pPr algn="l">
              <a:spcAft>
                <a:spcPts val="0"/>
              </a:spcAft>
            </a:pPr>
            <a:r>
              <a:rPr sz="1200" b="0" i="0">
                <a:solidFill>
                  <a:srgbClr val="EDF0ED"/>
                </a:solidFill>
                <a:latin typeface="Segoe UI"/>
              </a:rPr>
              <a:t>When safety cars neutralize the race, timing loops drop, or scenarios lack sufficient historical support, PITWALL explicitly outputs 'unsupported / uncertain' instead of outputting dangerous guesses.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0D"/>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lIns="0" tIns="0" rIns="0" bIns="0">
            <a:spAutoFit/>
          </a:bodyPr>
          <a:lstStyle/>
          <a:p>
            <a:pPr>
              <a:defRPr sz="1100" b="1">
                <a:solidFill>
                  <a:srgbClr val="E6FC74"/>
                </a:solidFill>
                <a:latin typeface="Segoe UI"/>
              </a:defRPr>
            </a:pPr>
            <a:r>
              <a:t>09 / SUMMARY &amp; CONCLUSION</a:t>
            </a:r>
          </a:p>
        </p:txBody>
      </p:sp>
      <p:sp>
        <p:nvSpPr>
          <p:cNvPr id="3" name="TextBox 2"/>
          <p:cNvSpPr txBox="1"/>
          <p:nvPr/>
        </p:nvSpPr>
        <p:spPr>
          <a:xfrm>
            <a:off x="731520" y="731520"/>
            <a:ext cx="10698480" cy="594360"/>
          </a:xfrm>
          <a:prstGeom prst="rect">
            <a:avLst/>
          </a:prstGeom>
          <a:noFill/>
        </p:spPr>
        <p:txBody>
          <a:bodyPr wrap="square" lIns="0" tIns="0" rIns="0" bIns="0">
            <a:spAutoFit/>
          </a:bodyPr>
          <a:lstStyle/>
          <a:p>
            <a:pPr>
              <a:defRPr sz="2600" b="1">
                <a:solidFill>
                  <a:srgbClr val="EDF0ED"/>
                </a:solidFill>
                <a:latin typeface="Segoe UI"/>
              </a:defRPr>
            </a:pPr>
            <a:r>
              <a:t>PITWALL: The Strategic Advantage on Track</a:t>
            </a:r>
          </a:p>
        </p:txBody>
      </p:sp>
      <p:sp>
        <p:nvSpPr>
          <p:cNvPr id="4" name="Rounded Rectangle 3"/>
          <p:cNvSpPr/>
          <p:nvPr/>
        </p:nvSpPr>
        <p:spPr>
          <a:xfrm>
            <a:off x="731520" y="1463040"/>
            <a:ext cx="3429000" cy="320040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l">
              <a:spcAft>
                <a:spcPts val="400"/>
              </a:spcAft>
            </a:pPr>
            <a:r>
              <a:rPr sz="1100" b="1" i="0">
                <a:solidFill>
                  <a:srgbClr val="E4A06D"/>
                </a:solidFill>
                <a:latin typeface="Segoe UI"/>
              </a:rPr>
              <a:t>THE CORE INNOVATION</a:t>
            </a:r>
          </a:p>
          <a:p>
            <a:pPr algn="l">
              <a:spcAft>
                <a:spcPts val="1200"/>
              </a:spcAft>
            </a:pPr>
            <a:r>
              <a:rPr sz="1600" b="1" i="0">
                <a:solidFill>
                  <a:srgbClr val="E6FC74"/>
                </a:solidFill>
                <a:latin typeface="Segoe UI"/>
              </a:rPr>
              <a:t>Physics Deconfounding</a:t>
            </a:r>
          </a:p>
          <a:p>
            <a:pPr algn="l">
              <a:spcAft>
                <a:spcPts val="0"/>
              </a:spcAft>
            </a:pPr>
            <a:r>
              <a:rPr sz="1300" b="0" i="0">
                <a:solidFill>
                  <a:srgbClr val="EDF0ED"/>
                </a:solidFill>
                <a:latin typeface="Segoe UI"/>
              </a:rPr>
              <a:t>Discovered and proved why practice degradation curves fail to transfer to race day. Replaced collinearity with observable pit-step pace recovery modeling (+1.26s/lap).</a:t>
            </a:r>
          </a:p>
        </p:txBody>
      </p:sp>
      <p:sp>
        <p:nvSpPr>
          <p:cNvPr id="5" name="Rounded Rectangle 4"/>
          <p:cNvSpPr/>
          <p:nvPr/>
        </p:nvSpPr>
        <p:spPr>
          <a:xfrm>
            <a:off x="4343400" y="1463040"/>
            <a:ext cx="3429000" cy="320040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l">
              <a:spcAft>
                <a:spcPts val="400"/>
              </a:spcAft>
            </a:pPr>
            <a:r>
              <a:rPr sz="1100" b="1" i="0">
                <a:solidFill>
                  <a:srgbClr val="E4A06D"/>
                </a:solidFill>
                <a:latin typeface="Segoe UI"/>
              </a:rPr>
              <a:t>THE MEASURED ADVANTAGE</a:t>
            </a:r>
          </a:p>
          <a:p>
            <a:pPr algn="l">
              <a:spcAft>
                <a:spcPts val="1200"/>
              </a:spcAft>
            </a:pPr>
            <a:r>
              <a:rPr sz="1600" b="1" i="0">
                <a:solidFill>
                  <a:srgbClr val="E6FC74"/>
                </a:solidFill>
                <a:latin typeface="Segoe UI"/>
              </a:rPr>
              <a:t>Audited Benchmarks</a:t>
            </a:r>
          </a:p>
          <a:p>
            <a:pPr algn="l">
              <a:spcAft>
                <a:spcPts val="0"/>
              </a:spcAft>
            </a:pPr>
            <a:r>
              <a:rPr sz="1300" b="0" i="0">
                <a:solidFill>
                  <a:srgbClr val="EDF0ED"/>
                </a:solidFill>
                <a:latin typeface="Segoe UI"/>
              </a:rPr>
              <a:t>12.0% lower lap pace RMSE across 6,831 forecasts, 10.0% lower battle gap RMSE, and 78.1% alert precision, validated across 12 Formula 1 Grand Prix events.</a:t>
            </a:r>
          </a:p>
        </p:txBody>
      </p:sp>
      <p:sp>
        <p:nvSpPr>
          <p:cNvPr id="6" name="Rounded Rectangle 5"/>
          <p:cNvSpPr/>
          <p:nvPr/>
        </p:nvSpPr>
        <p:spPr>
          <a:xfrm>
            <a:off x="7955280" y="1463040"/>
            <a:ext cx="3429000" cy="3200400"/>
          </a:xfrm>
          <a:prstGeom prst="roundRect">
            <a:avLst/>
          </a:prstGeom>
          <a:solidFill>
            <a:srgbClr val="131A16"/>
          </a:solidFill>
          <a:ln w="12700">
            <a:solidFill>
              <a:srgbClr val="232E27"/>
            </a:solidFill>
          </a:ln>
        </p:spPr>
        <p:style>
          <a:lnRef idx="1">
            <a:schemeClr val="accent1"/>
          </a:lnRef>
          <a:fillRef idx="3">
            <a:schemeClr val="accent1"/>
          </a:fillRef>
          <a:effectRef idx="2">
            <a:schemeClr val="accent1"/>
          </a:effectRef>
          <a:fontRef idx="minor">
            <a:schemeClr val="lt1"/>
          </a:fontRef>
        </p:style>
        <p:txBody>
          <a:bodyPr rtlCol="0" anchor="ctr" lIns="228600" rIns="228600" tIns="228600"/>
          <a:lstStyle/>
          <a:p>
            <a:pPr algn="l">
              <a:spcAft>
                <a:spcPts val="400"/>
              </a:spcAft>
            </a:pPr>
            <a:r>
              <a:rPr sz="1100" b="1" i="0">
                <a:solidFill>
                  <a:srgbClr val="E4A06D"/>
                </a:solidFill>
                <a:latin typeface="Segoe UI"/>
              </a:rPr>
              <a:t>THE WORKING PRODUCT</a:t>
            </a:r>
          </a:p>
          <a:p>
            <a:pPr algn="l">
              <a:spcAft>
                <a:spcPts val="1200"/>
              </a:spcAft>
            </a:pPr>
            <a:r>
              <a:rPr sz="1600" b="1" i="0">
                <a:solidFill>
                  <a:srgbClr val="E6FC74"/>
                </a:solidFill>
                <a:latin typeface="Segoe UI"/>
              </a:rPr>
              <a:t>Zero-Cloud Race Console</a:t>
            </a:r>
          </a:p>
          <a:p>
            <a:pPr algn="l">
              <a:spcAft>
                <a:spcPts val="0"/>
              </a:spcAft>
            </a:pPr>
            <a:r>
              <a:rPr sz="1300" b="0" i="0">
                <a:solidFill>
                  <a:srgbClr val="EDF0ED"/>
                </a:solidFill>
                <a:latin typeface="Segoe UI"/>
              </a:rPr>
              <a:t>Live 4.349 km circuit reconstruction with One Driver Clock synchronization, auto-verified forecast locks, and interactive undercut traffic stress-testing.</a:t>
            </a:r>
          </a:p>
        </p:txBody>
      </p:sp>
      <p:sp>
        <p:nvSpPr>
          <p:cNvPr id="7" name="Rounded Rectangle 6"/>
          <p:cNvSpPr/>
          <p:nvPr/>
        </p:nvSpPr>
        <p:spPr>
          <a:xfrm>
            <a:off x="731520" y="4892040"/>
            <a:ext cx="10728655" cy="1508760"/>
          </a:xfrm>
          <a:prstGeom prst="roundRect">
            <a:avLst/>
          </a:prstGeom>
          <a:solidFill>
            <a:srgbClr val="131A16"/>
          </a:solidFill>
          <a:ln w="12700">
            <a:solidFill>
              <a:srgbClr val="E6FC74"/>
            </a:solidFill>
          </a:ln>
        </p:spPr>
        <p:style>
          <a:lnRef idx="1">
            <a:schemeClr val="accent1"/>
          </a:lnRef>
          <a:fillRef idx="3">
            <a:schemeClr val="accent1"/>
          </a:fillRef>
          <a:effectRef idx="2">
            <a:schemeClr val="accent1"/>
          </a:effectRef>
          <a:fontRef idx="minor">
            <a:schemeClr val="lt1"/>
          </a:fontRef>
        </p:style>
        <p:txBody>
          <a:bodyPr rtlCol="0" anchor="ctr" lIns="274320" rIns="274320" tIns="182880"/>
          <a:lstStyle/>
          <a:p>
            <a:pPr algn="l">
              <a:spcAft>
                <a:spcPts val="400"/>
              </a:spcAft>
            </a:pPr>
            <a:r>
              <a:rPr sz="1800" b="1" i="0">
                <a:solidFill>
                  <a:srgbClr val="E6FC74"/>
                </a:solidFill>
                <a:latin typeface="Segoe UI"/>
              </a:rPr>
              <a:t>THANK YOU  —  TEAM HANDSOME SQUIDWARD</a:t>
            </a:r>
          </a:p>
          <a:p>
            <a:pPr algn="l">
              <a:spcAft>
                <a:spcPts val="400"/>
              </a:spcAft>
            </a:pPr>
            <a:r>
              <a:rPr sz="1300" b="1" i="0">
                <a:solidFill>
                  <a:srgbClr val="EDF0ED"/>
                </a:solidFill>
                <a:latin typeface="Segoe UI"/>
              </a:rPr>
              <a:t>Team Members: Aditya &amp; Ruhani   |   Hackathon: TrackShift 2026   |   AI Motorsport Track</a:t>
            </a:r>
          </a:p>
          <a:p>
            <a:pPr algn="l">
              <a:spcAft>
                <a:spcPts val="0"/>
              </a:spcAft>
            </a:pPr>
            <a:r>
              <a:rPr sz="1200" b="0" i="0">
                <a:solidFill>
                  <a:srgbClr val="A6B0A7"/>
                </a:solidFill>
                <a:latin typeface="Segoe UI"/>
              </a:rPr>
              <a:t>Demo Live at: scripts/serve_demo.py --port 8001  -&gt;  http://127.0.0.1:8001/demo_fallback/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