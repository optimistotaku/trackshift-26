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600200"/>
            <a:ext cx="10058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600" b="1" i="0">
                <a:solidFill>
                  <a:srgbClr val="FFFFFF"/>
                </a:solidFill>
                <a:latin typeface="Segoe UI"/>
              </a:rPr>
              <a:t>PITWALL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300" b="0" i="0">
                <a:solidFill>
                  <a:srgbClr val="D5DADF"/>
                </a:solidFill>
                <a:latin typeface="Segoe UI"/>
              </a:rPr>
              <a:t>Tyre degradation intelligence from confounded race data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977639"/>
            <a:ext cx="1371600" cy="45720"/>
          </a:xfrm>
          <a:prstGeom prst="rect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420624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0" i="0">
                <a:solidFill>
                  <a:srgbClr val="9AA0A6"/>
                </a:solidFill>
                <a:latin typeface="Segoe UI"/>
              </a:rPr>
              <a:t>We built the model everyone builds, proved it gives the wrong answer,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9AA0A6"/>
                </a:solidFill>
                <a:latin typeface="Segoe UI"/>
              </a:rPr>
              <a:t>and shipped the one that survives an actual race.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669280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C5CBD1"/>
                </a:solidFill>
                <a:latin typeface="Segoe UI"/>
              </a:rPr>
              <a:t>AI Motorsport Intelligence   ·   Tyre Degradation Intelligence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0B6EA8"/>
                </a:solidFill>
                <a:latin typeface="Segoe UI"/>
              </a:rPr>
              <a:t>Team Handsome Squidward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A0A6"/>
                </a:solidFill>
                <a:latin typeface="Segoe UI"/>
              </a:rPr>
              <a:t>Aditya  ·  Ruhani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777240" cy="64008"/>
          </a:xfrm>
          <a:prstGeom prst="rect">
            <a:avLst/>
          </a:prstGeom>
          <a:solidFill>
            <a:srgbClr val="0B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B6EA8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E1116"/>
                </a:solidFill>
                <a:latin typeface="Segoe UI"/>
              </a:rPr>
              <a:t>Everyone fits the same model. It comes out backwards.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74519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600" b="1">
                <a:solidFill>
                  <a:srgbClr val="0B6EA8"/>
                </a:solidFill>
                <a:latin typeface="Segoe UI"/>
              </a:rPr>
              <a:t>▪   </a:t>
            </a:r>
            <a:r>
              <a:rPr sz="1600">
                <a:solidFill>
                  <a:srgbClr val="0E1116"/>
                </a:solidFill>
                <a:latin typeface="Segoe UI"/>
              </a:rPr>
              <a:t>The brief asks us to isolate true tyre wear from fuel weight, traffic and track evolution.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600" b="1">
                <a:solidFill>
                  <a:srgbClr val="0B6EA8"/>
                </a:solidFill>
                <a:latin typeface="Segoe UI"/>
              </a:rPr>
              <a:t>▪   </a:t>
            </a:r>
            <a:r>
              <a:rPr sz="1600">
                <a:solidFill>
                  <a:srgbClr val="0E1116"/>
                </a:solidFill>
                <a:latin typeface="Segoe UI"/>
              </a:rPr>
              <a:t>The default approach fits lap time against tyre age and calls the slope “degradation.”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600" b="1">
                <a:solidFill>
                  <a:srgbClr val="C0392B"/>
                </a:solidFill>
                <a:latin typeface="Segoe UI"/>
              </a:rPr>
              <a:t>▪   </a:t>
            </a:r>
            <a:r>
              <a:rPr sz="1600">
                <a:solidFill>
                  <a:srgbClr val="0E1116"/>
                </a:solidFill>
                <a:latin typeface="Segoe UI"/>
              </a:rPr>
              <a:t>On the full 2026 season that slope reports two of three compounds getting FASTER as they wear.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0B6EA8"/>
                </a:solidFill>
                <a:latin typeface="Segoe UI"/>
              </a:rPr>
              <a:t>▪   </a:t>
            </a:r>
            <a:r>
              <a:rPr sz="1600">
                <a:solidFill>
                  <a:srgbClr val="0E1116"/>
                </a:solidFill>
                <a:latin typeface="Segoe UI"/>
              </a:rPr>
              <a:t>That is not a bias to note in a limitations section — it is a wrong answer to the exact question asked.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06640" y="1965960"/>
            <a:ext cx="4160520" cy="27432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1965960"/>
            <a:ext cx="109728" cy="27432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2240280"/>
            <a:ext cx="3657600" cy="228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8A8A8A"/>
                </a:solidFill>
                <a:latin typeface="Segoe UI"/>
              </a:rPr>
              <a:t>naive HARD-tyre “degradation”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C0392B"/>
                </a:solidFill>
                <a:latin typeface="Segoe UI"/>
              </a:rPr>
              <a:t>−0.15 s/lap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0E1116"/>
                </a:solidFill>
                <a:latin typeface="Segoe UI"/>
              </a:rPr>
              <a:t>the model claims a 30-lap-old tyre is over a second faster than a fresh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PITWALL  ·  TrackShift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55664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777240" cy="64008"/>
          </a:xfrm>
          <a:prstGeom prst="rect">
            <a:avLst/>
          </a:prstGeom>
          <a:solidFill>
            <a:srgbClr val="0B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B6EA8"/>
                </a:solidFill>
                <a:latin typeface="Segoe UI"/>
              </a:rPr>
              <a:t>WHY IT FAILS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E1116"/>
                </a:solidFill>
                <a:latin typeface="Segoe UI"/>
              </a:rPr>
              <a:t>Inside a run, fuel burns at exactly the rate tyres 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0B6EA8"/>
                </a:solidFill>
                <a:latin typeface="Segoe UI"/>
              </a:rPr>
              <a:t>1   </a:t>
            </a:r>
            <a:r>
              <a:rPr sz="1500">
                <a:solidFill>
                  <a:srgbClr val="0E1116"/>
                </a:solidFill>
                <a:latin typeface="Segoe UI"/>
              </a:rPr>
              <a:t>Fuel makes the car faster as the run goes on; tyres make it slower. Within a single run the two are perfectly collinear.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0B6EA8"/>
                </a:solidFill>
                <a:latin typeface="Segoe UI"/>
              </a:rPr>
              <a:t>2   </a:t>
            </a:r>
            <a:r>
              <a:rPr sz="1500">
                <a:solidFill>
                  <a:srgbClr val="0E1116"/>
                </a:solidFill>
                <a:latin typeface="Segoe UI"/>
              </a:rPr>
              <a:t>The naive slope measures their difference — not wear.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00" b="1">
                <a:solidFill>
                  <a:srgbClr val="0B6EA8"/>
                </a:solidFill>
                <a:latin typeface="Segoe UI"/>
              </a:rPr>
              <a:t>3   </a:t>
            </a:r>
            <a:r>
              <a:rPr sz="1500">
                <a:solidFill>
                  <a:srgbClr val="0E1116"/>
                </a:solidFill>
                <a:latin typeface="Segoe UI"/>
              </a:rPr>
              <a:t>Correcting fuel, then traffic, then track evolution flips every compound to a physically sensible positive number.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A7F4B"/>
                </a:solidFill>
                <a:latin typeface="Segoe UI"/>
              </a:rPr>
              <a:t>→   </a:t>
            </a:r>
            <a:r>
              <a:rPr sz="1500">
                <a:solidFill>
                  <a:srgbClr val="0E1116"/>
                </a:solidFill>
                <a:latin typeface="Segoe UI"/>
              </a:rPr>
              <a:t>Deconfounding is not cosmetic here. It changes the sign of the answer, and therefore the pit-stop call.</a:t>
            </a:r>
          </a:p>
        </p:txBody>
      </p:sp>
      <p:pic>
        <p:nvPicPr>
          <p:cNvPr id="6" name="Picture 5" descr="fig1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2347165"/>
            <a:ext cx="6172200" cy="32609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PITWALL  ·  TrackShift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777240" cy="64008"/>
          </a:xfrm>
          <a:prstGeom prst="rect">
            <a:avLst/>
          </a:prstGeom>
          <a:solidFill>
            <a:srgbClr val="0B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B6EA8"/>
                </a:solidFill>
                <a:latin typeface="Segoe UI"/>
              </a:rPr>
              <a:t>IDENTIFICATION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E1116"/>
                </a:solidFill>
                <a:latin typeface="Segoe UI"/>
              </a:rPr>
              <a:t>Three levers make the tyre effect recoverable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0292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50" b="1">
                <a:solidFill>
                  <a:srgbClr val="0B6EA8"/>
                </a:solidFill>
                <a:latin typeface="Segoe UI"/>
              </a:rPr>
              <a:t>Fuel   </a:t>
            </a:r>
            <a:r>
              <a:rPr sz="1450">
                <a:solidFill>
                  <a:srgbClr val="0E1116"/>
                </a:solidFill>
                <a:latin typeface="Segoe UI"/>
              </a:rPr>
              <a:t>— from the race, where fuel falls monotonically while tyre age saw-tooths at every stop. λ = +0.029 s/kg, matching the literature 0.030–0.035.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450" b="1">
                <a:solidFill>
                  <a:srgbClr val="0B6EA8"/>
                </a:solidFill>
                <a:latin typeface="Segoe UI"/>
              </a:rPr>
              <a:t>Evolution   </a:t>
            </a:r>
            <a:r>
              <a:rPr sz="1450">
                <a:solidFill>
                  <a:srgbClr val="0E1116"/>
                </a:solidFill>
                <a:latin typeface="Segoe UI"/>
              </a:rPr>
              <a:t>— as log1p(weekend laps). Its within-run slope varies ~11× from FP1 to FP3 while tyre age is always 1/lap, so the log saturates and is not collinear with age.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1450" b="1">
                <a:solidFill>
                  <a:srgbClr val="0B6EA8"/>
                </a:solidFill>
                <a:latin typeface="Segoe UI"/>
              </a:rPr>
              <a:t>Traffic   </a:t>
            </a:r>
            <a:r>
              <a:rPr sz="1450">
                <a:solidFill>
                  <a:srgbClr val="0E1116"/>
                </a:solidFill>
                <a:latin typeface="Segoe UI"/>
              </a:rPr>
              <a:t>— measured from car position telemetry: a KD-tree snap to the racing line gives the time gap to the car ahead. Measured, never guessed.</a:t>
            </a:r>
          </a:p>
        </p:txBody>
      </p:sp>
      <p:pic>
        <p:nvPicPr>
          <p:cNvPr id="6" name="Picture 5" descr="fig2_ident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289914"/>
            <a:ext cx="6035040" cy="33754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PITWALL  ·  TrackShift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777240" cy="6400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0392B"/>
                </a:solidFill>
                <a:latin typeface="Segoe UI"/>
              </a:rPr>
              <a:t>THE TEST MOST TEAMS SKIP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E1116"/>
                </a:solidFill>
                <a:latin typeface="Segoe UI"/>
              </a:rPr>
              <a:t>A clean in-sample curve that does not survive a 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C0392B"/>
                </a:solidFill>
                <a:latin typeface="Segoe UI"/>
              </a:rPr>
              <a:t>▪   </a:t>
            </a:r>
            <a:r>
              <a:rPr sz="1500">
                <a:solidFill>
                  <a:srgbClr val="0E1116"/>
                </a:solidFill>
                <a:latin typeface="Segoe UI"/>
              </a:rPr>
              <a:t>We could have stopped at the deconfounded curve. Instead we asked whether it predicts a real race.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C0392B"/>
                </a:solidFill>
                <a:latin typeface="Segoe UI"/>
              </a:rPr>
              <a:t>▪   </a:t>
            </a:r>
            <a:r>
              <a:rPr sz="1500">
                <a:solidFill>
                  <a:srgbClr val="0E1116"/>
                </a:solidFill>
                <a:latin typeface="Segoe UI"/>
              </a:rPr>
              <a:t>Prediction target: the pace gained across 288 actual pit stops.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C0392B"/>
                </a:solidFill>
                <a:latin typeface="Segoe UI"/>
              </a:rPr>
              <a:t>▪   </a:t>
            </a:r>
            <a:r>
              <a:rPr sz="1500">
                <a:solidFill>
                  <a:srgbClr val="0E1116"/>
                </a:solidFill>
                <a:latin typeface="Segoe UI"/>
              </a:rPr>
              <a:t>It is right on average — +1.52 s predicted vs +1.26 s observed — and its stop-by-stop variation is uncorrelated with truth.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C0392B"/>
                </a:solidFill>
                <a:latin typeface="Segoe UI"/>
              </a:rPr>
              <a:t>▪   </a:t>
            </a:r>
            <a:r>
              <a:rPr sz="1500">
                <a:solidFill>
                  <a:srgbClr val="0E1116"/>
                </a:solidFill>
                <a:latin typeface="Segoe UI"/>
              </a:rPr>
              <a:t>Calibration slope 0.006. A saturating form does not rescue it: the timescale τ is unidentified.</a:t>
            </a:r>
          </a:p>
        </p:txBody>
      </p:sp>
      <p:pic>
        <p:nvPicPr>
          <p:cNvPr id="6" name="Picture 5" descr="fig4_transfer_fail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4647" y="1783080"/>
            <a:ext cx="5032945" cy="4434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PITWALL  ·  TrackShift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777240" cy="64008"/>
          </a:xfrm>
          <a:prstGeom prst="rect">
            <a:avLst/>
          </a:prstGeom>
          <a:solidFill>
            <a:srgbClr val="0B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B6EA8"/>
                </a:solidFill>
                <a:latin typeface="Segoe UI"/>
              </a:rPr>
              <a:t>THE PIVOT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E1116"/>
                </a:solidFill>
                <a:latin typeface="Segoe UI"/>
              </a:rPr>
              <a:t>Model the decision, not the curve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6492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0B6EA8"/>
                </a:solidFill>
                <a:latin typeface="Segoe UI"/>
              </a:rPr>
              <a:t>▪   </a:t>
            </a:r>
            <a:r>
              <a:rPr sz="1600">
                <a:solidFill>
                  <a:srgbClr val="0E1116"/>
                </a:solidFill>
                <a:latin typeface="Segoe UI"/>
              </a:rPr>
              <a:t>The pit stop is a natural experiment: across it, tyre age resets to zero but fuel barely moves.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600" b="1">
                <a:solidFill>
                  <a:srgbClr val="0B6EA8"/>
                </a:solidFill>
                <a:latin typeface="Segoe UI"/>
              </a:rPr>
              <a:t>▪   </a:t>
            </a:r>
            <a:r>
              <a:rPr sz="1600">
                <a:solidFill>
                  <a:srgbClr val="0E1116"/>
                </a:solidFill>
                <a:latin typeface="Segoe UI"/>
              </a:rPr>
              <a:t>So the step in pace across a stop measures the tyre effect with fuel almost entirely cancelled — no model assumption required.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0B6EA8"/>
                </a:solidFill>
                <a:latin typeface="Segoe UI"/>
              </a:rPr>
              <a:t>▪   </a:t>
            </a:r>
            <a:r>
              <a:rPr sz="1600">
                <a:solidFill>
                  <a:srgbClr val="0E1116"/>
                </a:solidFill>
                <a:latin typeface="Segoe UI"/>
              </a:rPr>
              <a:t>We model the quantity an engineer actually decides on: the seconds per lap a fresh tyre buys. Learned from race history, not a practice 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635240" y="2148840"/>
            <a:ext cx="3977639" cy="246888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2423160"/>
            <a:ext cx="356616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9AA0A6"/>
                </a:solidFill>
                <a:latin typeface="Segoe UI"/>
              </a:rPr>
              <a:t>a fresh tyre is worth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</a:rPr>
              <a:t>+1.26 s/lap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9AA0A6"/>
                </a:solidFill>
                <a:latin typeface="Segoe UI"/>
              </a:rPr>
              <a:t>288 stops · 12 events · sd 1.03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PITWALL  ·  TrackShift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55664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777240" cy="64008"/>
          </a:xfrm>
          <a:prstGeom prst="rect">
            <a:avLst/>
          </a:prstGeom>
          <a:solidFill>
            <a:srgbClr val="0B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B6EA8"/>
                </a:solidFill>
                <a:latin typeface="Segoe UI"/>
              </a:rPr>
              <a:t>THE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E1116"/>
                </a:solidFill>
                <a:latin typeface="Segoe UI"/>
              </a:rPr>
              <a:t>Degradation accumulates for ~20 laps — then stops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49377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C0392B"/>
                </a:solidFill>
                <a:latin typeface="Segoe UI"/>
              </a:rPr>
              <a:t>▪   </a:t>
            </a:r>
            <a:r>
              <a:rPr sz="1500">
                <a:solidFill>
                  <a:srgbClr val="0E1116"/>
                </a:solidFill>
                <a:latin typeface="Segoe UI"/>
              </a:rPr>
              <a:t>A linear test on tyre age finds nothing (p = 0.58). That is the trap, not the answer.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0B6EA8"/>
                </a:solidFill>
                <a:latin typeface="Segoe UI"/>
              </a:rPr>
              <a:t>▪   </a:t>
            </a:r>
            <a:r>
              <a:rPr sz="1500">
                <a:solidFill>
                  <a:srgbClr val="0E1116"/>
                </a:solidFill>
                <a:latin typeface="Segoe UI"/>
              </a:rPr>
              <a:t>With curvature, age and age² are jointly significant (p = 0.005) and the value of a stop peaks near tyre age 21, then declines.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0B6EA8"/>
                </a:solidFill>
                <a:latin typeface="Segoe UI"/>
              </a:rPr>
              <a:t>▪   </a:t>
            </a:r>
            <a:r>
              <a:rPr sz="1500">
                <a:solidFill>
                  <a:srgbClr val="0E1116"/>
                </a:solidFill>
                <a:latin typeface="Segoe UI"/>
              </a:rPr>
              <a:t>It is an inverted U. A straight line averages it to zero and reports a confident, wrong null.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A7F4B"/>
                </a:solidFill>
                <a:latin typeface="Segoe UI"/>
              </a:rPr>
              <a:t>→   </a:t>
            </a:r>
            <a:r>
              <a:rPr sz="1500">
                <a:solidFill>
                  <a:srgbClr val="0E1116"/>
                </a:solidFill>
                <a:latin typeface="Segoe UI"/>
              </a:rPr>
              <a:t>Consequence: a curve that keeps climbing over-values a late stop — a systematic bias toward stopping too often.</a:t>
            </a:r>
          </a:p>
        </p:txBody>
      </p:sp>
      <p:pic>
        <p:nvPicPr>
          <p:cNvPr id="6" name="Picture 5" descr="fig3_age_n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182891"/>
            <a:ext cx="6035040" cy="35894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PITWALL  ·  TrackShift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777240" cy="64008"/>
          </a:xfrm>
          <a:prstGeom prst="rect">
            <a:avLst/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A7F4B"/>
                </a:solidFill>
                <a:latin typeface="Segoe UI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E1116"/>
                </a:solidFill>
                <a:latin typeface="Segoe UI"/>
              </a:rPr>
              <a:t>Beats the baseline out of sample, event by event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50" b="1">
                <a:solidFill>
                  <a:srgbClr val="1A7F4B"/>
                </a:solidFill>
                <a:latin typeface="Segoe UI"/>
              </a:rPr>
              <a:t>▪   </a:t>
            </a:r>
            <a:r>
              <a:rPr sz="1450">
                <a:solidFill>
                  <a:srgbClr val="0E1116"/>
                </a:solidFill>
                <a:latin typeface="Segoe UI"/>
              </a:rPr>
              <a:t>Leave-one-event-out, with no free constant granted to any method — the model must get the level right, not just the shape.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50" b="1">
                <a:solidFill>
                  <a:srgbClr val="1A7F4B"/>
                </a:solidFill>
                <a:latin typeface="Segoe UI"/>
              </a:rPr>
              <a:t>+11.9%   </a:t>
            </a:r>
            <a:r>
              <a:rPr sz="1450">
                <a:solidFill>
                  <a:srgbClr val="0E1116"/>
                </a:solidFill>
                <a:latin typeface="Segoe UI"/>
              </a:rPr>
              <a:t>RMSE over the season-mean baseline; calibration slope 0.82; wins 7 of 11 held-out events.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450" b="1">
                <a:solidFill>
                  <a:srgbClr val="1A7F4B"/>
                </a:solidFill>
                <a:latin typeface="Segoe UI"/>
              </a:rPr>
              <a:t>▪   </a:t>
            </a:r>
            <a:r>
              <a:rPr sz="1450">
                <a:solidFill>
                  <a:srgbClr val="0E1116"/>
                </a:solidFill>
                <a:latin typeface="Segoe UI"/>
              </a:rPr>
              <a:t>Robust to method-blind outlier caps (+10–12% across all cuts).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1450" b="1">
                <a:solidFill>
                  <a:srgbClr val="1A7F4B"/>
                </a:solidFill>
                <a:latin typeface="Segoe UI"/>
              </a:rPr>
              <a:t>▪   </a:t>
            </a:r>
            <a:r>
              <a:rPr sz="1450">
                <a:solidFill>
                  <a:srgbClr val="0E1116"/>
                </a:solidFill>
                <a:latin typeface="Segoe UI"/>
              </a:rPr>
              <a:t>Signal: compound pair, track temp (+0.041 s/°C, p&lt;0.001) and traffic (+0.50 s, p=0.003). Tyre age is reported but not deployed — it costs accuracy out of sample.</a:t>
            </a:r>
          </a:p>
        </p:txBody>
      </p:sp>
      <p:pic>
        <p:nvPicPr>
          <p:cNvPr id="6" name="Picture 5" descr="fig6_per_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2476056"/>
            <a:ext cx="6035040" cy="30488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PITWALL  ·  TrackShift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55664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777240" cy="64008"/>
          </a:xfrm>
          <a:prstGeom prst="rect">
            <a:avLst/>
          </a:prstGeom>
          <a:solidFill>
            <a:srgbClr val="0B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B6EA8"/>
                </a:solidFill>
                <a:latin typeface="Segoe UI"/>
              </a:rPr>
              <a:t>WHY TRUST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E1116"/>
                </a:solidFill>
                <a:latin typeface="Segoe UI"/>
              </a:rPr>
              <a:t>Validated against a natural experiment, not its own 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54864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0B6EA8"/>
                </a:solidFill>
                <a:latin typeface="Segoe UI"/>
              </a:rPr>
              <a:t>▪   </a:t>
            </a:r>
            <a:r>
              <a:rPr sz="1500">
                <a:solidFill>
                  <a:srgbClr val="0E1116"/>
                </a:solidFill>
                <a:latin typeface="Segoe UI"/>
              </a:rPr>
              <a:t>Ground truth is the pit-stop step, where fuel cancels — not an in-sample R² the model can inflate on its own.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0B6EA8"/>
                </a:solidFill>
                <a:latin typeface="Segoe UI"/>
              </a:rPr>
              <a:t>▪   </a:t>
            </a:r>
            <a:r>
              <a:rPr sz="1500">
                <a:solidFill>
                  <a:srgbClr val="0E1116"/>
                </a:solidFill>
                <a:latin typeface="Segoe UI"/>
              </a:rPr>
              <a:t>Leave-one-event-out cross-validation; no method receives a free constant.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0B6EA8"/>
                </a:solidFill>
                <a:latin typeface="Segoe UI"/>
              </a:rPr>
              <a:t>▪   </a:t>
            </a:r>
            <a:r>
              <a:rPr sz="1500">
                <a:solidFill>
                  <a:srgbClr val="0E1116"/>
                </a:solidFill>
                <a:latin typeface="Segoe UI"/>
              </a:rPr>
              <a:t>Cluster-robust standard errors — by run for lap fits, by event for stop fits.</a:t>
            </a:r>
          </a:p>
          <a:p>
            <a:pPr>
              <a:lnSpc>
                <a:spcPct val="108000"/>
              </a:lnSpc>
              <a:spcAft>
                <a:spcPts val="1100"/>
              </a:spcAft>
            </a:pPr>
            <a:r>
              <a:rPr sz="1500" b="1">
                <a:solidFill>
                  <a:srgbClr val="0B6EA8"/>
                </a:solidFill>
                <a:latin typeface="Segoe UI"/>
              </a:rPr>
              <a:t>▪   </a:t>
            </a:r>
            <a:r>
              <a:rPr sz="1500">
                <a:solidFill>
                  <a:srgbClr val="0E1116"/>
                </a:solidFill>
                <a:latin typeface="Segoe UI"/>
              </a:rPr>
              <a:t>Falsification: the traffic measure rises monotonically from P1–3 to P16–20, exactly as it must.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8A8A8A"/>
                </a:solidFill>
                <a:latin typeface="Segoe UI"/>
              </a:rPr>
              <a:t>▪   </a:t>
            </a:r>
            <a:r>
              <a:rPr sz="1500">
                <a:solidFill>
                  <a:srgbClr val="0E1116"/>
                </a:solidFill>
                <a:latin typeface="Segoe UI"/>
              </a:rPr>
              <a:t>Limits stated, not smoothed: the pooled gain is carried by larger events; track temp partly proxies circuit identity over only 12 events.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46520" y="1965960"/>
            <a:ext cx="5120640" cy="4114800"/>
          </a:xfrm>
          <a:prstGeom prst="rect">
            <a:avLst/>
          </a:prstGeom>
          <a:solidFill>
            <a:srgbClr val="F4F5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26280" cy="3566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200"/>
              </a:spcAft>
            </a:pPr>
            <a:r>
              <a:rPr sz="1200" b="1" i="0">
                <a:solidFill>
                  <a:srgbClr val="0B6EA8"/>
                </a:solidFill>
                <a:latin typeface="Segoe UI"/>
              </a:rPr>
              <a:t>OUT-OF-SAMPLE SCORECARD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0E1116"/>
                </a:solidFill>
                <a:latin typeface="Segoe UI"/>
              </a:rPr>
              <a:t>RMSE gain vs season mean    </a:t>
            </a:r>
            <a:r>
              <a:rPr sz="1400" b="1">
                <a:solidFill>
                  <a:srgbClr val="1A7F4B"/>
                </a:solidFill>
                <a:latin typeface="Segoe UI"/>
              </a:rPr>
              <a:t>+11.9%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0E1116"/>
                </a:solidFill>
                <a:latin typeface="Segoe UI"/>
              </a:rPr>
              <a:t>calibration slope    </a:t>
            </a:r>
            <a:r>
              <a:rPr sz="1400" b="1">
                <a:solidFill>
                  <a:srgbClr val="1A7F4B"/>
                </a:solidFill>
                <a:latin typeface="Segoe UI"/>
              </a:rPr>
              <a:t>0.82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0E1116"/>
                </a:solidFill>
                <a:latin typeface="Segoe UI"/>
              </a:rPr>
              <a:t>events won    </a:t>
            </a:r>
            <a:r>
              <a:rPr sz="1400" b="1">
                <a:solidFill>
                  <a:srgbClr val="1A7F4B"/>
                </a:solidFill>
                <a:latin typeface="Segoe UI"/>
              </a:rPr>
              <a:t>7 / 11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0E1116"/>
                </a:solidFill>
                <a:latin typeface="Segoe UI"/>
              </a:rPr>
              <a:t>stops scored    </a:t>
            </a:r>
            <a:r>
              <a:rPr sz="1400" b="1">
                <a:solidFill>
                  <a:srgbClr val="1A7F4B"/>
                </a:solidFill>
                <a:latin typeface="Segoe UI"/>
              </a:rPr>
              <a:t>288</a:t>
            </a:r>
          </a:p>
          <a:p>
            <a:pPr>
              <a:spcAft>
                <a:spcPts val="1000"/>
              </a:spcAft>
            </a:pPr>
            <a:r>
              <a:rPr sz="1400">
                <a:solidFill>
                  <a:srgbClr val="0E1116"/>
                </a:solidFill>
                <a:latin typeface="Segoe UI"/>
              </a:rPr>
              <a:t>fuel λ vs literature    </a:t>
            </a:r>
            <a:r>
              <a:rPr sz="1400" b="1">
                <a:solidFill>
                  <a:srgbClr val="1A7F4B"/>
                </a:solidFill>
                <a:latin typeface="Segoe UI"/>
              </a:rPr>
              <a:t>0.029 / 0.030–0.035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PITWALL  ·  TrackShift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55664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777240" cy="64008"/>
          </a:xfrm>
          <a:prstGeom prst="rect">
            <a:avLst/>
          </a:prstGeom>
          <a:solidFill>
            <a:srgbClr val="0B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B6EA8"/>
                </a:solidFill>
                <a:latin typeface="Segoe UI"/>
              </a:rPr>
              <a:t>BEYOND MOTORSPORT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E1116"/>
                </a:solidFill>
                <a:latin typeface="Segoe UI"/>
              </a:rPr>
              <a:t>The same trap sits in Indian fleet tyre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20240"/>
            <a:ext cx="64922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550" b="1">
                <a:solidFill>
                  <a:srgbClr val="0B6EA8"/>
                </a:solidFill>
                <a:latin typeface="Segoe UI"/>
              </a:rPr>
              <a:t>▪   </a:t>
            </a:r>
            <a:r>
              <a:rPr sz="1550">
                <a:solidFill>
                  <a:srgbClr val="0E1116"/>
                </a:solidFill>
                <a:latin typeface="Segoe UI"/>
              </a:rPr>
              <a:t>The transferable method: recover a wear signal from confounded operating conditions, then validate on a natural experiment — never in sample.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550" b="1">
                <a:solidFill>
                  <a:srgbClr val="0B6EA8"/>
                </a:solidFill>
                <a:latin typeface="Segoe UI"/>
              </a:rPr>
              <a:t>▪   </a:t>
            </a:r>
            <a:r>
              <a:rPr sz="1550">
                <a:solidFill>
                  <a:srgbClr val="0E1116"/>
                </a:solidFill>
                <a:latin typeface="Segoe UI"/>
              </a:rPr>
              <a:t>Target: Indian commercial-vehicle fleets. Wear is confounded by axle load, road roughness, ambient temperature and driver behaviour — structurally the identical problem.</a:t>
            </a:r>
          </a:p>
          <a:p>
            <a:pPr>
              <a:lnSpc>
                <a:spcPct val="108000"/>
              </a:lnSpc>
              <a:spcAft>
                <a:spcPts val="1200"/>
              </a:spcAft>
            </a:pPr>
            <a:r>
              <a:rPr sz="1550" b="1">
                <a:solidFill>
                  <a:srgbClr val="0B6EA8"/>
                </a:solidFill>
                <a:latin typeface="Segoe UI"/>
              </a:rPr>
              <a:t>▪   </a:t>
            </a:r>
            <a:r>
              <a:rPr sz="1550">
                <a:solidFill>
                  <a:srgbClr val="0E1116"/>
                </a:solidFill>
                <a:latin typeface="Segoe UI"/>
              </a:rPr>
              <a:t>Tyre cost is a top controllable line item in Indian trucking, and tyre burst is a recognised cause of highway fatalities.</a:t>
            </a:r>
          </a:p>
          <a:p>
            <a:pPr>
              <a:lnSpc>
                <a:spcPct val="108000"/>
              </a:lnSpc>
              <a:spcAft>
                <a:spcPts val="0"/>
              </a:spcAft>
            </a:pPr>
            <a:r>
              <a:rPr sz="1550" b="1">
                <a:solidFill>
                  <a:srgbClr val="1A7F4B"/>
                </a:solidFill>
                <a:latin typeface="Segoe UI"/>
              </a:rPr>
              <a:t>→   </a:t>
            </a:r>
            <a:r>
              <a:rPr sz="1550">
                <a:solidFill>
                  <a:srgbClr val="0E1116"/>
                </a:solidFill>
                <a:latin typeface="Segoe UI"/>
              </a:rPr>
              <a:t>The warning transfers too: an in-sample wear curve can look excellent and carry almost no predictive value. Only a natural experiment reveals which you have.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60920" y="2011680"/>
            <a:ext cx="4206240" cy="2880360"/>
          </a:xfrm>
          <a:prstGeom prst="rect">
            <a:avLst/>
          </a:prstGeom>
          <a:solidFill>
            <a:srgbClr val="0E11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2286000"/>
            <a:ext cx="3703320" cy="23774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150" b="1" i="0">
                <a:solidFill>
                  <a:srgbClr val="9AA0A6"/>
                </a:solidFill>
                <a:latin typeface="Segoe UI"/>
              </a:rPr>
              <a:t>SAME MATH, NEW CONFOUNDERS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fuel → axle load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traffic → road roughness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track evo → ambient temp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FFFFFF"/>
                </a:solidFill>
                <a:latin typeface="Segoe UI"/>
              </a:rPr>
              <a:t>pit stop → tyre swap record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PITWALL  ·  TrackShift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55664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548640"/>
            <a:ext cx="777240" cy="64008"/>
          </a:xfrm>
          <a:prstGeom prst="rect">
            <a:avLst/>
          </a:prstGeom>
          <a:solidFill>
            <a:srgbClr val="0B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0B6EA8"/>
                </a:solidFill>
                <a:latin typeface="Segoe UI"/>
              </a:rPr>
              <a:t>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96112"/>
            <a:ext cx="11338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0E1116"/>
                </a:solidFill>
                <a:latin typeface="Segoe UI"/>
              </a:rPr>
              <a:t>Built on real telemetry, reproducible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65960"/>
            <a:ext cx="3657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0B6EA8"/>
                </a:solidFill>
                <a:latin typeface="Segoe UI"/>
              </a:rPr>
              <a:t>DATA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0E1116"/>
                </a:solidFill>
                <a:latin typeface="Segoe UI"/>
              </a:rPr>
              <a:t>FastF1 — full 2026 F1 season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8A8A8A"/>
                </a:solidFill>
                <a:latin typeface="Segoe UI"/>
              </a:rPr>
              <a:t>14,310 laps · 12 events · 1,068 runs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E1116"/>
                </a:solidFill>
                <a:latin typeface="Segoe UI"/>
              </a:rPr>
              <a:t>Per-lap timing, tyre compound and age, plus 4–10 Hz car position telemetry.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34840" y="1965960"/>
            <a:ext cx="3657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0B6EA8"/>
                </a:solidFill>
                <a:latin typeface="Segoe UI"/>
              </a:rPr>
              <a:t>METHODS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50" b="1">
                <a:solidFill>
                  <a:srgbClr val="0B6EA8"/>
                </a:solidFill>
                <a:latin typeface="Segoe UI"/>
              </a:rPr>
              <a:t>•   </a:t>
            </a:r>
            <a:r>
              <a:rPr sz="1350">
                <a:solidFill>
                  <a:srgbClr val="0E1116"/>
                </a:solidFill>
                <a:latin typeface="Segoe UI"/>
              </a:rPr>
              <a:t>Two-stage hierarchical fuel + degradation model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50" b="1">
                <a:solidFill>
                  <a:srgbClr val="0B6EA8"/>
                </a:solidFill>
                <a:latin typeface="Segoe UI"/>
              </a:rPr>
              <a:t>•   </a:t>
            </a:r>
            <a:r>
              <a:rPr sz="1350">
                <a:solidFill>
                  <a:srgbClr val="0E1116"/>
                </a:solidFill>
                <a:latin typeface="Segoe UI"/>
              </a:rPr>
              <a:t>Frisch–Waugh–Lovell demeaning absorbs ~1,100 run fixed effects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50" b="1">
                <a:solidFill>
                  <a:srgbClr val="0B6EA8"/>
                </a:solidFill>
                <a:latin typeface="Segoe UI"/>
              </a:rPr>
              <a:t>•   </a:t>
            </a:r>
            <a:r>
              <a:rPr sz="1350">
                <a:solidFill>
                  <a:srgbClr val="0E1116"/>
                </a:solidFill>
                <a:latin typeface="Segoe UI"/>
              </a:rPr>
              <a:t>Cluster-robust standard errors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50" b="1">
                <a:solidFill>
                  <a:srgbClr val="0B6EA8"/>
                </a:solidFill>
                <a:latin typeface="Segoe UI"/>
              </a:rPr>
              <a:t>•   </a:t>
            </a:r>
            <a:r>
              <a:rPr sz="1350">
                <a:solidFill>
                  <a:srgbClr val="0E1116"/>
                </a:solidFill>
                <a:latin typeface="Segoe UI"/>
              </a:rPr>
              <a:t>KD-tree racing-line traffic measurement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350" b="1">
                <a:solidFill>
                  <a:srgbClr val="0B6EA8"/>
                </a:solidFill>
                <a:latin typeface="Segoe UI"/>
              </a:rPr>
              <a:t>•   </a:t>
            </a:r>
            <a:r>
              <a:rPr sz="1350">
                <a:solidFill>
                  <a:srgbClr val="0E1116"/>
                </a:solidFill>
                <a:latin typeface="Segoe UI"/>
              </a:rPr>
              <a:t>Profile likelihood over the saturating 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0" y="1965960"/>
            <a:ext cx="3383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0B6EA8"/>
                </a:solidFill>
                <a:latin typeface="Segoe UI"/>
              </a:rPr>
              <a:t>TOOLS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 i="0">
                <a:solidFill>
                  <a:srgbClr val="0E1116"/>
                </a:solidFill>
                <a:latin typeface="Segoe UI"/>
              </a:rPr>
              <a:t>Python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1000"/>
              </a:spcAft>
            </a:pPr>
            <a:r>
              <a:rPr sz="1350" b="0" i="0">
                <a:solidFill>
                  <a:srgbClr val="0E1116"/>
                </a:solidFill>
                <a:latin typeface="Segoe UI"/>
              </a:rPr>
              <a:t>pandas · NumPy · statsmodels · SciPy · matplotlib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 i="0">
                <a:solidFill>
                  <a:srgbClr val="0B6EA8"/>
                </a:solidFill>
                <a:latin typeface="Segoe UI"/>
              </a:rPr>
              <a:t>REPRODUCIBILITY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0E1116"/>
                </a:solidFill>
                <a:latin typeface="Segoe UI"/>
              </a:rPr>
              <a:t>One script regenerates every number and figure from the cached season.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PITWALL  ·  TrackShift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55664"/>
            <a:ext cx="7772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A8A8A"/>
                </a:solidFill>
                <a:latin typeface="Segoe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D00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137160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FFFFFF"/>
                </a:solidFill>
                <a:latin typeface="Segoe UI"/>
              </a:rPr>
              <a:t>PITWALL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900" b="0" i="0">
                <a:solidFill>
                  <a:srgbClr val="D5DADF"/>
                </a:solidFill>
                <a:latin typeface="Segoe UI"/>
              </a:rPr>
              <a:t>We built the model everyone builds, proved it gives the wrong answer,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D5DADF"/>
                </a:solidFill>
                <a:latin typeface="Segoe UI"/>
              </a:rPr>
              <a:t>and shipped the one that survives an actual race.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97280" y="3794760"/>
            <a:ext cx="3246120" cy="1691640"/>
          </a:xfrm>
          <a:prstGeom prst="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3794760"/>
            <a:ext cx="3246120" cy="82296"/>
          </a:xfrm>
          <a:prstGeom prst="rect">
            <a:avLst/>
          </a:prstGeom>
          <a:solidFill>
            <a:srgbClr val="0B6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53312" y="4023360"/>
            <a:ext cx="27432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+0.029 s/kg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A0A6"/>
                </a:solidFill>
                <a:latin typeface="Segoe UI"/>
              </a:rPr>
              <a:t>fuel sensitivity, matches the literature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4663440" y="3794760"/>
            <a:ext cx="3246120" cy="1691640"/>
          </a:xfrm>
          <a:prstGeom prst="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63440" y="3794760"/>
            <a:ext cx="3246120" cy="82296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919472" y="4023360"/>
            <a:ext cx="27432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0.006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A0A6"/>
                </a:solidFill>
                <a:latin typeface="Segoe UI"/>
              </a:rPr>
              <a:t>calibration of the curve everyone ships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3794760"/>
            <a:ext cx="3246120" cy="1691640"/>
          </a:xfrm>
          <a:prstGeom prst="rect">
            <a:avLst/>
          </a:prstGeom>
          <a:solidFill>
            <a:srgbClr val="161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3794760"/>
            <a:ext cx="3246120" cy="82296"/>
          </a:xfrm>
          <a:prstGeom prst="rect">
            <a:avLst/>
          </a:prstGeom>
          <a:solidFill>
            <a:srgbClr val="1A7F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85632" y="4023360"/>
            <a:ext cx="27432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Segoe UI"/>
              </a:rPr>
              <a:t>+11.9%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A0A6"/>
                </a:solidFill>
                <a:latin typeface="Segoe UI"/>
              </a:rPr>
              <a:t>out-of-sample gain of the model we ship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8521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C5CBD1"/>
                </a:solidFill>
                <a:latin typeface="Segoe UI"/>
              </a:rPr>
              <a:t>Team Handsome Squidward   ·   Aditya  ·  Ruhani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AA0A6"/>
                </a:solidFill>
                <a:latin typeface="Segoe UI"/>
              </a:rPr>
              <a:t>AI Motorsport Intelligence   ·   TrackShift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