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6352945ba84dd2" /><Relationship Type="http://schemas.openxmlformats.org/officeDocument/2006/relationships/extended-properties" Target="/docProps/app.xml" Id="R0efa15e25a454b7e" /><Relationship Type="http://schemas.openxmlformats.org/officeDocument/2006/relationships/officeDocument" Target="/ppt/presentation.xml" Id="Reee3a934194445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fbe7f34906443f"/>
  </p:sldMasterIdLst>
  <p:notesMasterIdLst>
    <p:notesMasterId xmlns:r="http://schemas.openxmlformats.org/officeDocument/2006/relationships" r:id="Rd314cea0a8d14edf"/>
  </p:notesMasterIdLst>
  <p:sldIdLst>
    <p:sldId xmlns:r="http://schemas.openxmlformats.org/officeDocument/2006/relationships" id="256" r:id="R8381dfe094fc4640"/>
    <p:sldId xmlns:r="http://schemas.openxmlformats.org/officeDocument/2006/relationships" id="257" r:id="R40250da88f3e4d35"/>
    <p:sldId xmlns:r="http://schemas.openxmlformats.org/officeDocument/2006/relationships" id="258" r:id="R6d76f0cb4e204091"/>
    <p:sldId xmlns:r="http://schemas.openxmlformats.org/officeDocument/2006/relationships" id="259" r:id="R978b2271f57f47fd"/>
    <p:sldId xmlns:r="http://schemas.openxmlformats.org/officeDocument/2006/relationships" id="260" r:id="R058e38f121484f17"/>
    <p:sldId xmlns:r="http://schemas.openxmlformats.org/officeDocument/2006/relationships" id="261" r:id="R302c51b2951840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96847ab9bd436d" /><Relationship Type="http://schemas.openxmlformats.org/officeDocument/2006/relationships/slideMaster" Target="/ppt/slideMasters/slideMaster1.xml" Id="R49fbe7f34906443f" /><Relationship Type="http://schemas.openxmlformats.org/officeDocument/2006/relationships/notesMaster" Target="/ppt/notesMasters/notesMaster1.xml" Id="Rd314cea0a8d14edf" /><Relationship Type="http://schemas.openxmlformats.org/officeDocument/2006/relationships/presProps" Target="/ppt/presProps.xml" Id="R4326f32d78014fd9" /><Relationship Type="http://schemas.openxmlformats.org/officeDocument/2006/relationships/tableStyles" Target="/ppt/tableStyles.xml" Id="R572f15464f914bf4" /><Relationship Type="http://schemas.openxmlformats.org/officeDocument/2006/relationships/slide" Target="/ppt/slides/slide1.xml" Id="R8381dfe094fc4640" /><Relationship Type="http://schemas.openxmlformats.org/officeDocument/2006/relationships/slide" Target="/ppt/slides/slide2.xml" Id="R40250da88f3e4d35" /><Relationship Type="http://schemas.openxmlformats.org/officeDocument/2006/relationships/slide" Target="/ppt/slides/slide3.xml" Id="R6d76f0cb4e204091" /><Relationship Type="http://schemas.openxmlformats.org/officeDocument/2006/relationships/slide" Target="/ppt/slides/slide4.xml" Id="R978b2271f57f47fd" /><Relationship Type="http://schemas.openxmlformats.org/officeDocument/2006/relationships/slide" Target="/ppt/slides/slide5.xml" Id="R058e38f121484f17" /><Relationship Type="http://schemas.openxmlformats.org/officeDocument/2006/relationships/slide" Target="/ppt/slides/slide6.xml" Id="R302c51b2951840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0bb80e94f143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c1d132c1ea427f" /><Relationship Type="http://schemas.openxmlformats.org/officeDocument/2006/relationships/notesMaster" Target="/ppt/notesMasters/notesMaster1.xml" Id="R2128f8d5e63446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7043c547984e13" /><Relationship Type="http://schemas.openxmlformats.org/officeDocument/2006/relationships/notesMaster" Target="/ppt/notesMasters/notesMaster1.xml" Id="R47ea81a15c0c4a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62cc79149a4057" /><Relationship Type="http://schemas.openxmlformats.org/officeDocument/2006/relationships/notesMaster" Target="/ppt/notesMasters/notesMaster1.xml" Id="Rde209b9ab6d648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17f00ecbe540c6" /><Relationship Type="http://schemas.openxmlformats.org/officeDocument/2006/relationships/notesMaster" Target="/ppt/notesMasters/notesMaster1.xml" Id="R34da433e804749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c9b59a68654719" /><Relationship Type="http://schemas.openxmlformats.org/officeDocument/2006/relationships/notesMaster" Target="/ppt/notesMasters/notesMaster1.xml" Id="R6860f83d94c242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92596255964143" /><Relationship Type="http://schemas.openxmlformats.org/officeDocument/2006/relationships/notesMaster" Target="/ppt/notesMasters/notesMaster1.xml" Id="Rb4d26601032f4c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PITWALL / TrackShift 2026. Present the app using Present to jury. This deck accompanies the working local demo; all metrics come from artifacts/demo/intelligence/*.json. Do not claim a validated optimal pit lap or places gained.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artifacts/demo/model.json → degradation_curves.practice.compounds.HARD. Slopes evaluated at tyre age 10. Historical research artifacts predate the replay traffic correction. The practice-to-race transfer failed; these are identification evidence, not deployed physical wear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artifacts/demo/intelligence/R11.json. Snapshot NOR / lap 25 / horizon 3; target lap 28. Demo example uses the pre-existing default cursor, not a search for best error. Prediction 85.066332; actual 85.071; persistence 84.973. One example is not an accuracy claim. In app: Present to jury → Predict &amp; verify → Advance to lap 28 &amp;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artifacts/demo/intelligence/R11.json stop_scenarios.HARD and battles[horizon=3] at NOR lap25. Scenario: 1.5s gap, 0.7s warm-up, equal service, zero extra degradation, both cars stop. Central margin = 3*1.315561 - 0.078218 -1.5 -0.7 =1.668465s. Adding 2s total rejoin traffic gives -0.331535s. Combined stress radius =3*2.032157 +2.497010 =8.593481s. Conditional arithmetic, no validated overtake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artifacts/demo/intelligence/report.json and battle_report.json. Pace RMSE on 6831 forecasts; relative-time RMSE on3128 forecasts. All later-race results use earlier-race fits. Architectures selected using development events; R09-R12 are reused evaluation events. Forecasts assume same-stint green running.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local application demo_fallback/index.html; docs/JURY_PRESENTATION.md; artifacts/demo/intelligence/*.json. Use the app four-chapter walkthrough. Strong claims are forecast accuracy and inspectable scenario arithmetic; physical tyre life, actual race time saved and positions won remain unproven.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24cd64d2042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7d86e5b6a749ea" /><Relationship Type="http://schemas.openxmlformats.org/officeDocument/2006/relationships/slideLayout" Target="/ppt/slideLayouts/slideLayout1.xml" Id="Rc809030582f540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09030582f540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e90c0e8f74aca" /><Relationship Type="http://schemas.openxmlformats.org/officeDocument/2006/relationships/notesSlide" Target="/ppt/notesSlides/notesSlide1.xml" Id="Raf0ce4c1f05f43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5d9688056483e" /><Relationship Type="http://schemas.openxmlformats.org/officeDocument/2006/relationships/notesSlide" Target="/ppt/notesSlides/notesSlide2.xml" Id="Rafe0f6eb6d364b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4e5dca6554667" /><Relationship Type="http://schemas.openxmlformats.org/officeDocument/2006/relationships/notesSlide" Target="/ppt/notesSlides/notesSlide3.xml" Id="R74708b1b102b41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dbf0b3e49440f" /><Relationship Type="http://schemas.openxmlformats.org/officeDocument/2006/relationships/notesSlide" Target="/ppt/notesSlides/notesSlide4.xml" Id="R296305841f264e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b7a6b06754c3e" /><Relationship Type="http://schemas.openxmlformats.org/officeDocument/2006/relationships/chart" Target="/ppt/slides/charts/chart1.xml" Id="Ra37bcc6f315d48ad" /><Relationship Type="http://schemas.openxmlformats.org/officeDocument/2006/relationships/notesSlide" Target="/ppt/notesSlides/notesSlide5.xml" Id="R9c34c212a8ad43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c2070a32c4a30" /><Relationship Type="http://schemas.openxmlformats.org/officeDocument/2006/relationships/notesSlide" Target="/ppt/notesSlides/notesSlide6.xml" Id="R4e0d1e15ff2a428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PITWALL</c:v>
          </c:tx>
          <c:spPr>
            <a:solidFill xmlns:a="http://schemas.openxmlformats.org/drawingml/2006/main">
              <a:srgbClr val="E6FC74"/>
            </a:solidFill>
          </c:spPr>
          <c:cat>
            <c:strRef>
              <c:f>'Chart Data'!$A$2:$A$3</c:f>
              <c:strCache>
                <c:ptCount val="2"/>
                <c:pt idx="0">
                  <c:v>Pace forecast</c:v>
                </c:pt>
                <c:pt idx="1">
                  <c:v>Rival-time forecast</c:v>
                </c:pt>
              </c:strCache>
            </c:strRef>
          </c:cat>
          <c:val>
            <c:numRef>
              <c:f>'Chart Data'!$B$2:$B$3</c:f>
              <c:numCache>
                <c:formatCode>0.0"s"</c:formatCode>
                <c:ptCount val="2"/>
                <c:pt idx="0">
                  <c:v>0.742818</c:v>
                </c:pt>
                <c:pt idx="1">
                  <c:v>2.197121</c:v>
                </c:pt>
              </c:numCache>
            </c:numRef>
          </c:val>
        </c:ser>
        <c:ser>
          <c:idx val="1"/>
          <c:order val="1"/>
          <c:tx>
            <c:v>Baseline</c:v>
          </c:tx>
          <c:spPr>
            <a:solidFill xmlns:a="http://schemas.openxmlformats.org/drawingml/2006/main">
              <a:srgbClr val="69776A"/>
            </a:solidFill>
          </c:spPr>
          <c:cat>
            <c:strRef>
              <c:f>'Chart Data'!$C$2:$C$3</c:f>
              <c:strCache>
                <c:ptCount val="2"/>
                <c:pt idx="0">
                  <c:v>Pace forecast</c:v>
                </c:pt>
                <c:pt idx="1">
                  <c:v>Rival-time forecast</c:v>
                </c:pt>
              </c:strCache>
            </c:strRef>
          </c:cat>
          <c:val>
            <c:numRef>
              <c:f>'Chart Data'!$D$2:$D$3</c:f>
              <c:numCache>
                <c:formatCode>0.0"s"</c:formatCode>
                <c:ptCount val="2"/>
                <c:pt idx="0">
                  <c:v>0.84365</c:v>
                </c:pt>
                <c:pt idx="1">
                  <c:v>2.441853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EDF0ED"/>
                  </a:solidFill>
                  <a:latin typeface="Bahnschrift"/>
                  <a:ea typeface="Bahnschrift"/>
                  <a:cs typeface="Bahnschrif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B352B"/>
              </a:solidFill>
            </a:ln>
          </c:spPr>
        </c:majorGridlines>
        <c:numFmt formatCode="0.0&quot;s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0A0E0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EDF0ED"/>
              </a:solidFill>
              <a:latin typeface="Bahnschrift"/>
              <a:ea typeface="Bahnschrift"/>
              <a:cs typeface="Bahnschrift"/>
            </a:defRPr>
          </a:pPr>
        </a:p>
      </c:txPr>
    </c:legend>
    <c:plotVisOnly val="1"/>
  </c:chart>
  <c:spPr>
    <a:solidFill xmlns:a="http://schemas.openxmlformats.org/drawingml/2006/main">
      <a:srgbClr val="0A0E0D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BD127-B9CA-4B2C-BC9C-7FD2E793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950" b="1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7950" b="1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PITWALL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807CB-F7FF-40B0-8B97-CEBDF1F0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6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Tyre degradation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63D2D-BC78-4579-94DA-265AF0DF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3000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Forecast the pace risk.</a:t>
            </a:r>
          </a:p>
          <a:p xmlns:a="http://schemas.openxmlformats.org/drawingml/2006/main">
            <a:pPr>
              <a:defRPr sz="3000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3000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Price the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3F82D-53AD-4340-A034-FB0F9A49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Aditya &amp; Ruhani  /  TrackShift 2026</a:t>
            </a:r>
          </a:p>
        </p:txBody>
      </p:sp>
    </p:spTree>
    <p:extLst>
      <p:ext uri="{BB962C8B-B14F-4D97-AF65-F5344CB8AC3E}">
        <p14:creationId xmlns:p14="http://schemas.microsoft.com/office/powerpoint/2010/main" val="2051388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0ED31-D731-4E81-9DFE-694C1806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Tyre wear is hidden inside lap 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BD4A9-7198-4DE6-AB91-1D8C9DF3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2700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Fuel  +  tyres  +  traffic  +  track evolution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CCE10-C187-4865-80AA-CDA1D50F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925" b="0">
                <a:solidFill>
                  <a:srgbClr val="E4A06D"/>
                </a:solidFill>
                <a:latin typeface="Bahnschrift"/>
                <a:ea typeface="Bahnschrift"/>
                <a:cs typeface="Bahnschrift"/>
              </a:defRPr>
            </a:pPr>
            <a:r>
              <a:rPr sz="5925" b="0">
                <a:solidFill>
                  <a:srgbClr val="E4A06D"/>
                </a:solidFill>
                <a:latin typeface="Bahnschrift"/>
                <a:ea typeface="Bahnschrift"/>
                <a:cs typeface="Bahnschrift"/>
              </a:rPr>
              <a:t>−0.154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0F644-D1AC-4870-871D-95BCB8F0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Naive HARD slope / s per lap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964C6-C0C7-4143-99B7-D985BDA5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52725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92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592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+0.063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BD918-94DB-4CE5-9277-02002895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052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After confounder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E44E7-6BCC-476B-B00E-321D3EE3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00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A plausible practice curve still failed the race-transfer test.</a:t>
            </a:r>
          </a:p>
          <a:p xmlns:a="http://schemas.openxmlformats.org/drawingml/2006/main">
            <a:pPr>
              <a:defRPr sz="2100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00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We validate race forecasting and stop scenarios separately.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B2913-768C-4F27-A315-366F960C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Historical research at tyre age 10; not a direct physical wear sensor.</a:t>
            </a:r>
          </a:p>
        </p:txBody>
      </p:sp>
    </p:spTree>
    <p:extLst>
      <p:ext uri="{BB962C8B-B14F-4D97-AF65-F5344CB8AC3E}">
        <p14:creationId xmlns:p14="http://schemas.microsoft.com/office/powerpoint/2010/main" val="1260118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DF437-E25B-4359-83F9-4F53F1AB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Lock the forecast. Then reveal the lap.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8E6CE-6FE5-4DA0-9C9D-CD045D08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8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HUNGARY / NOR / LAP 25 → LAP 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B2AE2-6CC5-4AB1-8D80-953A71F8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LOCKED FORECAST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2BA48-F300-4A60-BDAE-988045A0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85.066s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57991-865B-498A-8AAE-285FB4E6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03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ACTUAL LAP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77796-3177-4E96-A18D-AB841D0C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5752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85.071s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65072-D82B-4C3F-97A3-30C95703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003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ABSOLUTE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ED7C1-DDC1-43BB-B24A-88BAECEE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57525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87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0.005s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41AC9-7E84-48A9-983F-09E10A98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Persistence error: 0.098s. The forecast stays fixed as replay advances.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27ACD-8CCD-4122-8928-F174DC4D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One historical example. The next benchmark includes every scored evaluation forecast.</a:t>
            </a:r>
          </a:p>
        </p:txBody>
      </p:sp>
    </p:spTree>
    <p:extLst>
      <p:ext uri="{BB962C8B-B14F-4D97-AF65-F5344CB8AC3E}">
        <p14:creationId xmlns:p14="http://schemas.microsoft.com/office/powerpoint/2010/main" val="16499759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2567A-1E95-4877-9F29-03992084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Traffic can erase the undercut margin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246A8-C4E3-46F9-AF81-53AFC06A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3.95s tyre benefit − 0.08s rival pace − 1.50s gap − 0.70s warm-up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3D7C9-16DF-4ED4-8961-222C0F7E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825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6825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+1.67s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094DF-EF12-4194-88DC-B0BE52B0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Central margin / clean rejoin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15329-EC4E-4928-8906-7164295F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527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825" b="0">
                <a:solidFill>
                  <a:srgbClr val="E4A06D"/>
                </a:solidFill>
                <a:latin typeface="Bahnschrift"/>
                <a:ea typeface="Bahnschrift"/>
                <a:cs typeface="Bahnschrift"/>
              </a:defRPr>
            </a:pPr>
            <a:r>
              <a:rPr sz="6825" b="0">
                <a:solidFill>
                  <a:srgbClr val="E4A06D"/>
                </a:solidFill>
                <a:latin typeface="Bahnschrift"/>
                <a:ea typeface="Bahnschrift"/>
                <a:cs typeface="Bahnschrift"/>
              </a:rPr>
              <a:t>-0.33s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D6F56-9A15-448A-938E-8649359B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38625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02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With 2s of rejoin traffic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E5013-AF22-4ADC-82B7-84816860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Both stress ranges cross zero. The tool exposes a fragile attack</a:t>
            </a:r>
          </a:p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instead of inventing a confident pit command.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19E9E-918F-43FF-9C2A-A390FC1C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Both cars stop; shared pit transit cancels. Costs and inventory require engineer input.</a:t>
            </a:r>
          </a:p>
        </p:txBody>
      </p:sp>
    </p:spTree>
    <p:extLst>
      <p:ext uri="{BB962C8B-B14F-4D97-AF65-F5344CB8AC3E}">
        <p14:creationId xmlns:p14="http://schemas.microsoft.com/office/powerpoint/2010/main" val="1094645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C1B40-FD1A-46B7-8111-CA530D43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Measured improvement against baselines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7810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7bcc6f315d48ad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04606-6241-423E-AFE3-26914A66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335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9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12.0%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52ED3-9721-4E42-8998-C274D05C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860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less pace RMSE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7CFC4-4280-4F52-8E74-2AE9A9C8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49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10.0%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99215-D1B0-4199-9729-3F597F00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767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less rival-time RMSE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CDBC2-4211-488E-8D8F-70A5E0C4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18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6,831 pace and 3,128 rival forecasts. Four reused evaluation races.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2E82E-7B9C-47D1-A87C-19799C1E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Stop-step RMSE 0.757s vs 0.761s: too small a gain to claim optimal pit strategy.</a:t>
            </a:r>
          </a:p>
        </p:txBody>
      </p:sp>
    </p:spTree>
    <p:extLst>
      <p:ext uri="{BB962C8B-B14F-4D97-AF65-F5344CB8AC3E}">
        <p14:creationId xmlns:p14="http://schemas.microsoft.com/office/powerpoint/2010/main" val="1343113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64EC0-0AE9-4425-9E58-039FAA22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A decision aid the engineer can inspect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C6BF8-80C8-43F4-9298-B09BF546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01   Predict and verify the next laps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D4257-B602-4DD2-BCA0-80DAEC80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02   Stress the undercut with traffic and rival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0DD46-487C-4B70-A897-4CC3AB94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defRPr>
            </a:pPr>
            <a:r>
              <a:rPr sz="2550" b="0">
                <a:solidFill>
                  <a:srgbClr val="E6FC74"/>
                </a:solidFill>
                <a:latin typeface="Bahnschrift"/>
                <a:ea typeface="Bahnschrift"/>
                <a:cs typeface="Bahnschrift"/>
              </a:rPr>
              <a:t>03   Inspect the baseline, coverage and model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E6904-3160-43B6-9E64-9AF9EB8C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Measured forecast advantage. Transparent strategy assumptions.</a:t>
            </a:r>
          </a:p>
          <a:p xmlns:a="http://schemas.openxmlformats.org/drawingml/2006/main">
            <a:pPr>
              <a:def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defRPr>
            </a:pPr>
            <a:r>
              <a:rPr sz="2175" b="0">
                <a:solidFill>
                  <a:srgbClr val="EDF0ED"/>
                </a:solidFill>
                <a:latin typeface="Bahnschrift"/>
                <a:ea typeface="Bahnschrift"/>
                <a:cs typeface="Bahnschrift"/>
              </a:rPr>
              <a:t>Grounded engineer briefing. Offline replay.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D582E-246F-467E-8A29-E87FCB6C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defRPr>
            </a:pPr>
            <a:r>
              <a:rPr sz="1725" b="0">
                <a:solidFill>
                  <a:srgbClr val="A6B0A7"/>
                </a:solidFill>
                <a:latin typeface="Bahnschrift"/>
                <a:ea typeface="Bahnschrift"/>
                <a:cs typeface="Bahnschrift"/>
              </a:rPr>
              <a:t>Open the app → Present to jury</a:t>
            </a:r>
          </a:p>
        </p:txBody>
      </p:sp>
    </p:spTree>
    <p:extLst>
      <p:ext uri="{BB962C8B-B14F-4D97-AF65-F5344CB8AC3E}">
        <p14:creationId xmlns:p14="http://schemas.microsoft.com/office/powerpoint/2010/main" val="100080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2026-09-12T18:13:05.7140000Z</dcterms:created>
  <dcterms:modified xsi:type="dcterms:W3CDTF">2026-09-12T18:13:05.7140000Z</dcterms:modified>
</coreProperties>
</file>