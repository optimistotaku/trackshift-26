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2b2239208d4b17" /><Relationship Type="http://schemas.openxmlformats.org/officeDocument/2006/relationships/extended-properties" Target="/docProps/app.xml" Id="R745ae8b2dacb4667" /><Relationship Type="http://schemas.openxmlformats.org/officeDocument/2006/relationships/officeDocument" Target="/ppt/presentation.xml" Id="R21560047209348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3d2c9f8b404549"/>
  </p:sldMasterIdLst>
  <p:notesMasterIdLst>
    <p:notesMasterId xmlns:r="http://schemas.openxmlformats.org/officeDocument/2006/relationships" r:id="R1ec9c86a28f14fdd"/>
  </p:notesMasterIdLst>
  <p:sldIdLst>
    <p:sldId xmlns:r="http://schemas.openxmlformats.org/officeDocument/2006/relationships" id="256" r:id="R2bb609cf7f464bc2"/>
    <p:sldId xmlns:r="http://schemas.openxmlformats.org/officeDocument/2006/relationships" id="257" r:id="R7afcaf40039849f1"/>
    <p:sldId xmlns:r="http://schemas.openxmlformats.org/officeDocument/2006/relationships" id="258" r:id="Rf3615867188f4da6"/>
    <p:sldId xmlns:r="http://schemas.openxmlformats.org/officeDocument/2006/relationships" id="259" r:id="R0351344713c74e03"/>
    <p:sldId xmlns:r="http://schemas.openxmlformats.org/officeDocument/2006/relationships" id="260" r:id="Re907d0b5daff4a89"/>
    <p:sldId xmlns:r="http://schemas.openxmlformats.org/officeDocument/2006/relationships" id="261" r:id="Rb86d3b34edd04c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5081b2426046ab" /><Relationship Type="http://schemas.openxmlformats.org/officeDocument/2006/relationships/slideMaster" Target="/ppt/slideMasters/slideMaster1.xml" Id="Rda3d2c9f8b404549" /><Relationship Type="http://schemas.openxmlformats.org/officeDocument/2006/relationships/notesMaster" Target="/ppt/notesMasters/notesMaster1.xml" Id="R1ec9c86a28f14fdd" /><Relationship Type="http://schemas.openxmlformats.org/officeDocument/2006/relationships/presProps" Target="/ppt/presProps.xml" Id="R1e589e660f304dcf" /><Relationship Type="http://schemas.openxmlformats.org/officeDocument/2006/relationships/tableStyles" Target="/ppt/tableStyles.xml" Id="R393e6a55537a45a2" /><Relationship Type="http://schemas.openxmlformats.org/officeDocument/2006/relationships/slide" Target="/ppt/slides/slide1.xml" Id="R2bb609cf7f464bc2" /><Relationship Type="http://schemas.openxmlformats.org/officeDocument/2006/relationships/slide" Target="/ppt/slides/slide2.xml" Id="R7afcaf40039849f1" /><Relationship Type="http://schemas.openxmlformats.org/officeDocument/2006/relationships/slide" Target="/ppt/slides/slide3.xml" Id="Rf3615867188f4da6" /><Relationship Type="http://schemas.openxmlformats.org/officeDocument/2006/relationships/slide" Target="/ppt/slides/slide4.xml" Id="R0351344713c74e03" /><Relationship Type="http://schemas.openxmlformats.org/officeDocument/2006/relationships/slide" Target="/ppt/slides/slide5.xml" Id="Re907d0b5daff4a89" /><Relationship Type="http://schemas.openxmlformats.org/officeDocument/2006/relationships/slide" Target="/ppt/slides/slide6.xml" Id="Rb86d3b34edd04c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607514a7034e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a641ea9fdf4f50" /><Relationship Type="http://schemas.openxmlformats.org/officeDocument/2006/relationships/notesMaster" Target="/ppt/notesMasters/notesMaster1.xml" Id="Rc76fea91811147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523d3afd584967" /><Relationship Type="http://schemas.openxmlformats.org/officeDocument/2006/relationships/notesMaster" Target="/ppt/notesMasters/notesMaster1.xml" Id="R9abbb78ee9c441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f33cdfc9564b6c" /><Relationship Type="http://schemas.openxmlformats.org/officeDocument/2006/relationships/notesMaster" Target="/ppt/notesMasters/notesMaster1.xml" Id="R12f19c7ead8345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5aa824eb674a53" /><Relationship Type="http://schemas.openxmlformats.org/officeDocument/2006/relationships/notesMaster" Target="/ppt/notesMasters/notesMaster1.xml" Id="Rfb9d9e0704794d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62011ea97d47d6" /><Relationship Type="http://schemas.openxmlformats.org/officeDocument/2006/relationships/notesMaster" Target="/ppt/notesMasters/notesMaster1.xml" Id="R0ac946e85bbb4e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fe2f9ddd654adc" /><Relationship Type="http://schemas.openxmlformats.org/officeDocument/2006/relationships/notesMaster" Target="/ppt/notesMasters/notesMaster1.xml" Id="R66c9e0bea9a04b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PITWALL / TrackShift 2026. Present the app using Present to jury. This deck accompanies the working local demo; all metrics come from artifacts/demo/intelligence/*.json. Do not claim a validated optimal pit lap or places gained.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artifacts/demo/model.json → degradation_curves.practice.compounds.HARD. Slopes evaluated at tyre age 10. Historical research artifacts predate the replay traffic correction. The practice-to-race transfer failed; these are identification evidence, not deployed physical wear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artifacts/demo/intelligence/R11.json. Snapshot NOR / lap 25 / horizon 3; target lap 28. Demo example uses the pre-existing default cursor, not a search for best error. Prediction 85.066332; actual 85.071; persistence 84.973. One example is not an accuracy claim. In app: Present to jury → Predict &amp; verify → Advance to lap 28 &amp;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artifacts/demo/intelligence/R11.json stop_scenarios.HARD and battles[horizon=3] at NOR lap25. Scenario: 1.5s gap, 0.7s warm-up, equal service, zero extra degradation, both cars stop. Central margin = 3*1.315561 - 0.078218 -1.5 -0.7 =1.668465s. Adding 2s total rejoin traffic gives -0.331535s. Combined stress radius =3*2.032157 +2.497010 =8.593481s. Conditional arithmetic, no validated overtake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artifacts/demo/intelligence/report.json and battle_report.json. Pace RMSE on 6831 forecasts; relative-time RMSE on3128 forecasts. All later-race results use earlier-race fits. Architectures selected using development events; R09-R12 are reused evaluation events. Forecasts assume same-stint green running.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current local application demo_fallback/index.html; docs/JURY_PRESENTATION.md; artifacts/demo/intelligence/*.json. Use the app four-chapter walkthrough. Strong claims are forecast accuracy and inspectable scenario arithmetic; physical tyre life, actual race time saved and positions won remain unproven.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91cf7c01ee42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fabb1828b9401c" /><Relationship Type="http://schemas.openxmlformats.org/officeDocument/2006/relationships/slideLayout" Target="/ppt/slideLayouts/slideLayout1.xml" Id="R4e40c25d8d4242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40c25d8d4242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27d51c6f74f93" /><Relationship Type="http://schemas.openxmlformats.org/officeDocument/2006/relationships/notesSlide" Target="/ppt/notesSlides/notesSlide1.xml" Id="Re0fcb0457f5047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c31c8732640e2" /><Relationship Type="http://schemas.openxmlformats.org/officeDocument/2006/relationships/notesSlide" Target="/ppt/notesSlides/notesSlide2.xml" Id="R7a7bba66f85b43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2e706f97141c3" /><Relationship Type="http://schemas.openxmlformats.org/officeDocument/2006/relationships/notesSlide" Target="/ppt/notesSlides/notesSlide3.xml" Id="R214660ad3e554b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dbb5e31cf4984" /><Relationship Type="http://schemas.openxmlformats.org/officeDocument/2006/relationships/notesSlide" Target="/ppt/notesSlides/notesSlide4.xml" Id="Rdc98207da8dd4e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cdcc1a024494c" /><Relationship Type="http://schemas.openxmlformats.org/officeDocument/2006/relationships/chart" Target="/ppt/slides/charts/chart1.xml" Id="Rf3cfb0817f5b4b93" /><Relationship Type="http://schemas.openxmlformats.org/officeDocument/2006/relationships/notesSlide" Target="/ppt/notesSlides/notesSlide5.xml" Id="Rb23bf34a9c9e40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3cca3d4444142" /><Relationship Type="http://schemas.openxmlformats.org/officeDocument/2006/relationships/notesSlide" Target="/ppt/notesSlides/notesSlide6.xml" Id="Rc2b7c23bad204d6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PITWALL</c:v>
          </c:tx>
          <c:spPr>
            <a:solidFill xmlns:a="http://schemas.openxmlformats.org/drawingml/2006/main">
              <a:srgbClr val="E6FC74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solidFill>
                          <a:srgbClr val="EDF0ED"/>
                        </a:solidFill>
                        <a:latin typeface="Bahnschrift"/>
                        <a:ea typeface="Bahnschrift"/>
                        <a:cs typeface="Bahnschrift"/>
                      </a:rPr>
                      <a:t>0.743s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solidFill>
                        <a:srgbClr val="EDF0ED"/>
                      </a:solidFill>
                      <a:latin typeface="Bahnschrift"/>
                      <a:ea typeface="Bahnschrift"/>
                      <a:cs typeface="Bahnschrift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solidFill>
                          <a:srgbClr val="EDF0ED"/>
                        </a:solidFill>
                        <a:latin typeface="Bahnschrift"/>
                        <a:ea typeface="Bahnschrift"/>
                        <a:cs typeface="Bahnschrift"/>
                      </a:rPr>
                      <a:t>2.197s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solidFill>
                        <a:srgbClr val="EDF0ED"/>
                      </a:solidFill>
                      <a:latin typeface="Bahnschrift"/>
                      <a:ea typeface="Bahnschrift"/>
                      <a:cs typeface="Bahnschrift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Pace forecast</c:v>
                </c:pt>
                <c:pt idx="1">
                  <c:v>Rival-time forecast</c:v>
                </c:pt>
              </c:strCache>
            </c:strRef>
          </c:cat>
          <c:val>
            <c:numRef>
              <c:f>'Chart Data'!$B$2:$B$3</c:f>
              <c:numCache>
                <c:formatCode>0.0"s"</c:formatCode>
                <c:ptCount val="2"/>
                <c:pt idx="0">
                  <c:v>0.742818</c:v>
                </c:pt>
                <c:pt idx="1">
                  <c:v>2.197121</c:v>
                </c:pt>
              </c:numCache>
            </c:numRef>
          </c:val>
        </c:ser>
        <c:ser>
          <c:idx val="1"/>
          <c:order val="1"/>
          <c:tx>
            <c:v>Baseline</c:v>
          </c:tx>
          <c:spPr>
            <a:solidFill xmlns:a="http://schemas.openxmlformats.org/drawingml/2006/main">
              <a:srgbClr val="69776A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solidFill>
                          <a:srgbClr val="EDF0ED"/>
                        </a:solidFill>
                        <a:latin typeface="Bahnschrift"/>
                        <a:ea typeface="Bahnschrift"/>
                        <a:cs typeface="Bahnschrift"/>
                      </a:rPr>
                      <a:t>0.844s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solidFill>
                        <a:srgbClr val="EDF0ED"/>
                      </a:solidFill>
                      <a:latin typeface="Bahnschrift"/>
                      <a:ea typeface="Bahnschrift"/>
                      <a:cs typeface="Bahnschrift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solidFill>
                          <a:srgbClr val="EDF0ED"/>
                        </a:solidFill>
                        <a:latin typeface="Bahnschrift"/>
                        <a:ea typeface="Bahnschrift"/>
                        <a:cs typeface="Bahnschrift"/>
                      </a:rPr>
                      <a:t>2.442s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solidFill>
                        <a:srgbClr val="EDF0ED"/>
                      </a:solidFill>
                      <a:latin typeface="Bahnschrift"/>
                      <a:ea typeface="Bahnschrift"/>
                      <a:cs typeface="Bahnschrift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Data'!$C$2:$C$3</c:f>
              <c:strCache>
                <c:ptCount val="2"/>
                <c:pt idx="0">
                  <c:v>Pace forecast</c:v>
                </c:pt>
                <c:pt idx="1">
                  <c:v>Rival-time forecast</c:v>
                </c:pt>
              </c:strCache>
            </c:strRef>
          </c:cat>
          <c:val>
            <c:numRef>
              <c:f>'Chart Data'!$D$2:$D$3</c:f>
              <c:numCache>
                <c:formatCode>0.0"s"</c:formatCode>
                <c:ptCount val="2"/>
                <c:pt idx="0">
                  <c:v>0.84365</c:v>
                </c:pt>
                <c:pt idx="1">
                  <c:v>2.441853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EDF0ED"/>
                  </a:solidFill>
                  <a:latin typeface="Bahnschrift"/>
                  <a:ea typeface="Bahnschrift"/>
                  <a:cs typeface="Bahnschrif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B352B"/>
              </a:solidFill>
            </a:ln>
          </c:spPr>
        </c:majorGridlines>
        <c:numFmt formatCode="0.0&quot;s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0A0E0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EDF0ED"/>
              </a:solidFill>
              <a:latin typeface="Bahnschrift"/>
              <a:ea typeface="Bahnschrift"/>
              <a:cs typeface="Bahnschrift"/>
            </a:defRPr>
          </a:pPr>
        </a:p>
      </c:txPr>
    </c:legend>
    <c:plotVisOnly val="1"/>
  </c:chart>
  <c:spPr>
    <a:solidFill xmlns:a="http://schemas.openxmlformats.org/drawingml/2006/main">
      <a:srgbClr val="0A0E0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BB5C8-C53D-4983-97E4-3419B4C3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950" b="1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7950" b="1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PITWALL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D4754-F381-4FF7-866C-89A360AC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6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Tyre degradation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05FFE-AD70-4DDC-BC60-D1AABC8C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3000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Forecast the pace risk.</a:t>
            </a:r>
          </a:p>
          <a:p xmlns:a="http://schemas.openxmlformats.org/drawingml/2006/main">
            <a:pPr>
              <a:defRPr sz="3000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3000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Price the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0AC55-6107-4FCB-888E-614B70C5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Aditya &amp; Ruhani  /  TrackShift 2026</a:t>
            </a:r>
          </a:p>
        </p:txBody>
      </p:sp>
    </p:spTree>
    <p:extLst>
      <p:ext uri="{BB962C8B-B14F-4D97-AF65-F5344CB8AC3E}">
        <p14:creationId xmlns:p14="http://schemas.microsoft.com/office/powerpoint/2010/main" val="8173255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6CD69-6E1C-427A-A7E7-7E2AC717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Tyre wear is hidden inside lap 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82051-C61A-44D8-97FF-5A5CFB26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2700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Fuel  +  tyres  +  traffic  +  track evolution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B08B3-E74D-4E91-945E-5E4CAAD1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925" b="0">
                <a:solidFill>
                  <a:srgbClr val="E4A06D"/>
                </a:solidFill>
                <a:latin typeface="Bahnschrift"/>
                <a:ea typeface="Bahnschrift"/>
                <a:cs typeface="Bahnschrift"/>
              </a:defRPr>
            </a:pPr>
            <a:r>
              <a:rPr sz="5925" b="0">
                <a:solidFill>
                  <a:srgbClr val="E4A06D"/>
                </a:solidFill>
                <a:latin typeface="Bahnschrift"/>
                <a:ea typeface="Bahnschrift"/>
                <a:cs typeface="Bahnschrift"/>
              </a:rPr>
              <a:t>−0.154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55483-105A-4105-B7B4-9D3F74F8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Naive HARD slope / s per lap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321CA-7D5A-4692-B5C9-ED44C474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52725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925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5925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+0.063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93953-4003-4F70-9974-BC3D9813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052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After confounder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AA3E3-CA31-49C8-AEDC-034FA43E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00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A plausible practice curve still failed the race-transfer test.</a:t>
            </a:r>
          </a:p>
          <a:p xmlns:a="http://schemas.openxmlformats.org/drawingml/2006/main">
            <a:pPr>
              <a:defRPr sz="2100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00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We validate race forecasting and stop scenarios separately.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37E2B-ECDF-4F88-9870-4855EAAC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Historical research at tyre age 10; not a direct physical wear sensor.</a:t>
            </a:r>
          </a:p>
        </p:txBody>
      </p:sp>
    </p:spTree>
    <p:extLst>
      <p:ext uri="{BB962C8B-B14F-4D97-AF65-F5344CB8AC3E}">
        <p14:creationId xmlns:p14="http://schemas.microsoft.com/office/powerpoint/2010/main" val="7654397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29455-0AAF-4FC9-80AF-24C82CCF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Lock the forecast. Then reveal the lap.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58E46-3E65-43D3-A322-949A3267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8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HUNGARY / NOR / LAP 25 → LAP 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17190-A428-4E20-8CD3-DEC5755F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LOCKED FORECAST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6426B-13C8-421E-9408-7AB2E94D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85.066s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F4AA4-5B4D-4D99-8B2D-9353E8D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03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ACTUAL LAP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B8DDD-5C4C-4305-96B2-02342F52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57525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85.071s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C9D11-8878-4D2E-A4F1-694117DE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003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ABSOLUTE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C5CCC-E396-4758-A8A9-671F0D64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57525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0.005s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6CC9F-3C82-4843-97B8-EF4D3C6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Persistence error: 0.098s. The forecast stays fixed as replay advances.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ECBA2-4E1C-4944-97B9-02A0832A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One historical example. The next benchmark includes every scored evaluation forecast.</a:t>
            </a:r>
          </a:p>
        </p:txBody>
      </p:sp>
    </p:spTree>
    <p:extLst>
      <p:ext uri="{BB962C8B-B14F-4D97-AF65-F5344CB8AC3E}">
        <p14:creationId xmlns:p14="http://schemas.microsoft.com/office/powerpoint/2010/main" val="1825111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3FBB4-608B-405F-B4AC-29724317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Traffic can erase the undercut margin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14744-FEB8-4E82-A69F-8D402AE7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3.95s tyre benefit − 0.08s rival pace − 1.50s gap − 0.70s warm-up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3A977-B4A9-489C-9FD8-20666BA6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825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6825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+1.67s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AF3B6-59BD-4EBB-8C76-DABB86C4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Central margin / clean rejoin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965E1-9125-4268-9A04-66AD8229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527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825" b="0">
                <a:solidFill>
                  <a:srgbClr val="E4A06D"/>
                </a:solidFill>
                <a:latin typeface="Bahnschrift"/>
                <a:ea typeface="Bahnschrift"/>
                <a:cs typeface="Bahnschrift"/>
              </a:defRPr>
            </a:pPr>
            <a:r>
              <a:rPr sz="6825" b="0">
                <a:solidFill>
                  <a:srgbClr val="E4A06D"/>
                </a:solidFill>
                <a:latin typeface="Bahnschrift"/>
                <a:ea typeface="Bahnschrift"/>
                <a:cs typeface="Bahnschrift"/>
              </a:rPr>
              <a:t>-0.33s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F3F10-1BE7-4515-9316-BA00392E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38625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With 2s of rejoin traffic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24F70-E603-4E6E-9F37-6BA5EC81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Both stress ranges cross zero. The tool exposes a fragile attack</a:t>
            </a:r>
          </a:p>
          <a:p xmlns:a="http://schemas.openxmlformats.org/drawingml/2006/main">
            <a:pPr>
              <a:def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instead of inventing a confident pit command.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9C8CF-E80E-4A9C-9FF5-D1C08EF6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Both cars stop; shared pit transit cancels. Costs and inventory require engineer input.</a:t>
            </a:r>
          </a:p>
        </p:txBody>
      </p:sp>
    </p:spTree>
    <p:extLst>
      <p:ext uri="{BB962C8B-B14F-4D97-AF65-F5344CB8AC3E}">
        <p14:creationId xmlns:p14="http://schemas.microsoft.com/office/powerpoint/2010/main" val="16942214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54A4D-24C1-42EA-8879-B532BE7B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Measured improvement against baselines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7810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cfb0817f5b4b93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557AC-AB61-4B9A-AA0B-54A8D62B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3357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4950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12.0%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E0499-F3DE-4986-91B3-7BB0616A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860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1800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less pace RMSE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8A731-DC5A-4812-83B9-83C5CE82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4950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10.0%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F0CB1-4BD7-43B2-9626-373B4C34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7677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1800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less rival-time RMSE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002D4-6B2C-41AC-96A5-8CCD1B93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18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6,831 pace and 3,128 rival forecasts. Four reused evaluation races.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8AFBE-0D84-4569-A642-E514FC9E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Stop-step RMSE 0.757s vs 0.761s: too small a gain to claim optimal pit strategy.</a:t>
            </a:r>
          </a:p>
        </p:txBody>
      </p:sp>
    </p:spTree>
    <p:extLst>
      <p:ext uri="{BB962C8B-B14F-4D97-AF65-F5344CB8AC3E}">
        <p14:creationId xmlns:p14="http://schemas.microsoft.com/office/powerpoint/2010/main" val="6189049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BFB5B-A0C4-483C-95C6-54F1623E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A decision aid the engineer can inspect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D3453-A486-4074-8D00-D456700B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01   Predict and verify the next laps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34201-FBDF-4957-8731-C2B3ED2E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02   Stress the undercut with traffic and rival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3119C-7B9D-46EC-A3A5-1781C1D7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03   Inspect the baseline, coverage and model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9C384-0C38-4CA1-AB30-929D29B1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Measured forecast advantage. Transparent strategy assumptions.</a:t>
            </a:r>
          </a:p>
          <a:p xmlns:a="http://schemas.openxmlformats.org/drawingml/2006/main">
            <a:pPr>
              <a:def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Grounded engineer briefing. Offline replay.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F04B1-E59E-4D7F-B1A7-F4FBAF94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Open the app → Present to jury</a:t>
            </a:r>
          </a:p>
        </p:txBody>
      </p:sp>
    </p:spTree>
    <p:extLst>
      <p:ext uri="{BB962C8B-B14F-4D97-AF65-F5344CB8AC3E}">
        <p14:creationId xmlns:p14="http://schemas.microsoft.com/office/powerpoint/2010/main" val="19164112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2026-09-12T18:16:09.8110000Z</dcterms:created>
  <dcterms:modified xsi:type="dcterms:W3CDTF">2026-09-12T18:16:09.8110000Z</dcterms:modified>
</coreProperties>
</file>