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19137d3b504f22" /><Relationship Type="http://schemas.openxmlformats.org/officeDocument/2006/relationships/extended-properties" Target="/docProps/app.xml" Id="R2a7596ffb2c04e61" /><Relationship Type="http://schemas.openxmlformats.org/officeDocument/2006/relationships/officeDocument" Target="/ppt/presentation.xml" Id="R7064aa94328b43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bcac59864a41c8"/>
  </p:sldMasterIdLst>
  <p:notesMasterIdLst>
    <p:notesMasterId xmlns:r="http://schemas.openxmlformats.org/officeDocument/2006/relationships" r:id="Ra9d483ff632d4a98"/>
  </p:notesMasterIdLst>
  <p:sldIdLst>
    <p:sldId xmlns:r="http://schemas.openxmlformats.org/officeDocument/2006/relationships" id="256" r:id="Ra4b2de73e2ca4175"/>
    <p:sldId xmlns:r="http://schemas.openxmlformats.org/officeDocument/2006/relationships" id="257" r:id="R4b7d50cc0161439a"/>
    <p:sldId xmlns:r="http://schemas.openxmlformats.org/officeDocument/2006/relationships" id="258" r:id="Ra05c302109a5472d"/>
    <p:sldId xmlns:r="http://schemas.openxmlformats.org/officeDocument/2006/relationships" id="259" r:id="Rb1420118af1947eb"/>
    <p:sldId xmlns:r="http://schemas.openxmlformats.org/officeDocument/2006/relationships" id="260" r:id="R624864bfb37b46a0"/>
    <p:sldId xmlns:r="http://schemas.openxmlformats.org/officeDocument/2006/relationships" id="261" r:id="Rdb9d4f4d9bcc40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8d75150cd447fb" /><Relationship Type="http://schemas.openxmlformats.org/officeDocument/2006/relationships/slideMaster" Target="/ppt/slideMasters/slideMaster1.xml" Id="Rf2bcac59864a41c8" /><Relationship Type="http://schemas.openxmlformats.org/officeDocument/2006/relationships/notesMaster" Target="/ppt/notesMasters/notesMaster1.xml" Id="Ra9d483ff632d4a98" /><Relationship Type="http://schemas.openxmlformats.org/officeDocument/2006/relationships/presProps" Target="/ppt/presProps.xml" Id="R6a2a2ec52f47438b" /><Relationship Type="http://schemas.openxmlformats.org/officeDocument/2006/relationships/tableStyles" Target="/ppt/tableStyles.xml" Id="R86359e2cf77742ef" /><Relationship Type="http://schemas.openxmlformats.org/officeDocument/2006/relationships/slide" Target="/ppt/slides/slide1.xml" Id="Ra4b2de73e2ca4175" /><Relationship Type="http://schemas.openxmlformats.org/officeDocument/2006/relationships/slide" Target="/ppt/slides/slide2.xml" Id="R4b7d50cc0161439a" /><Relationship Type="http://schemas.openxmlformats.org/officeDocument/2006/relationships/slide" Target="/ppt/slides/slide3.xml" Id="Ra05c302109a5472d" /><Relationship Type="http://schemas.openxmlformats.org/officeDocument/2006/relationships/slide" Target="/ppt/slides/slide4.xml" Id="Rb1420118af1947eb" /><Relationship Type="http://schemas.openxmlformats.org/officeDocument/2006/relationships/slide" Target="/ppt/slides/slide5.xml" Id="R624864bfb37b46a0" /><Relationship Type="http://schemas.openxmlformats.org/officeDocument/2006/relationships/slide" Target="/ppt/slides/slide6.xml" Id="Rdb9d4f4d9bcc40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6ebec61ef841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7d1db6bd2b4fe2" /><Relationship Type="http://schemas.openxmlformats.org/officeDocument/2006/relationships/notesMaster" Target="/ppt/notesMasters/notesMaster1.xml" Id="Raac609f17e7b46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4a220d55c94f21" /><Relationship Type="http://schemas.openxmlformats.org/officeDocument/2006/relationships/notesMaster" Target="/ppt/notesMasters/notesMaster1.xml" Id="R551f6aa4ee0f44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d175e1fecb4300" /><Relationship Type="http://schemas.openxmlformats.org/officeDocument/2006/relationships/notesMaster" Target="/ppt/notesMasters/notesMaster1.xml" Id="Rcd921238421c40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ccd3ec56d745e0" /><Relationship Type="http://schemas.openxmlformats.org/officeDocument/2006/relationships/notesMaster" Target="/ppt/notesMasters/notesMaster1.xml" Id="R507e3f5458b745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e975919aaa4c1a" /><Relationship Type="http://schemas.openxmlformats.org/officeDocument/2006/relationships/notesMaster" Target="/ppt/notesMasters/notesMaster1.xml" Id="R9a54cbcc7cea4d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430c2298634aab" /><Relationship Type="http://schemas.openxmlformats.org/officeDocument/2006/relationships/notesMaster" Target="/ppt/notesMasters/notesMaster1.xml" Id="R9b3a797f82334c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PITWALL / TrackShift 2026. Present the app using Present to jury. This deck accompanies the working local demo; all metrics come from artifacts/demo/intelligence/*.json. Do not claim a validated optimal pit lap or places gained.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artifacts/demo/model.json → degradation_curves.practice.compounds.HARD. Slopes evaluated at tyre age 10. Historical research artifacts predate the replay traffic correction. The practice-to-race transfer failed; these are identification evidence, not deployed physical wear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artifacts/demo/intelligence/R11.json. Snapshot NOR / lap 25 / horizon 3; target lap 28. Demo example uses the pre-existing default cursor, not a search for best error. Prediction 85.066332; actual 85.071; persistence 84.973. One example is not an accuracy claim. In app: Present to jury → Predict &amp; verify → Advance to lap 28 &amp;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artifacts/demo/intelligence/R11.json stop_scenarios.HARD and battles[horizon=3] at NOR lap25. Scenario: 1.5s gap, 0.7s warm-up, equal service, zero extra degradation, both cars stop. Central margin = 3*1.315561 - 0.078218 -1.5 -0.7 =1.668465s. Adding 2s total rejoin traffic gives -0.331535s. Combined stress radius =3*2.032157 +2.497010 =8.593481s. Conditional arithmetic, no validated overtake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artifacts/demo/intelligence/report.json and battle_report.json. Pace RMSE on 6831 forecasts; relative-time RMSE on3128 forecasts. All later-race results use earlier-race fits. Architectures selected using development events; R09-R12 are reused evaluation events. Forecasts assume same-stint green running.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current local application demo_fallback/index.html; docs/JURY_PRESENTATION.md; artifacts/demo/intelligence/*.json. Use the app four-chapter walkthrough. Strong claims are forecast accuracy and inspectable scenario arithmetic; physical tyre life, actual race time saved and positions won remain unproven.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a5af7c480142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82ea29f46f4866" /><Relationship Type="http://schemas.openxmlformats.org/officeDocument/2006/relationships/slideLayout" Target="/ppt/slideLayouts/slideLayout1.xml" Id="Rc4918866784841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918866784841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be84ad8d14837" /><Relationship Type="http://schemas.openxmlformats.org/officeDocument/2006/relationships/notesSlide" Target="/ppt/notesSlides/notesSlide1.xml" Id="Rc6e834c275754d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72a96ce754ec2" /><Relationship Type="http://schemas.openxmlformats.org/officeDocument/2006/relationships/notesSlide" Target="/ppt/notesSlides/notesSlide2.xml" Id="Rd7c63498fda048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3582e85f14071" /><Relationship Type="http://schemas.openxmlformats.org/officeDocument/2006/relationships/notesSlide" Target="/ppt/notesSlides/notesSlide3.xml" Id="R92c5dc7fb6824d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e74710a83417b" /><Relationship Type="http://schemas.openxmlformats.org/officeDocument/2006/relationships/notesSlide" Target="/ppt/notesSlides/notesSlide4.xml" Id="R8c8d3fb5e83141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b598f65bb4247" /><Relationship Type="http://schemas.openxmlformats.org/officeDocument/2006/relationships/chart" Target="/ppt/slides/charts/chart1.xml" Id="Rcd9a38e47015471f" /><Relationship Type="http://schemas.openxmlformats.org/officeDocument/2006/relationships/notesSlide" Target="/ppt/notesSlides/notesSlide5.xml" Id="R11a9689de0b543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20b1badee4a28" /><Relationship Type="http://schemas.openxmlformats.org/officeDocument/2006/relationships/notesSlide" Target="/ppt/notesSlides/notesSlide6.xml" Id="Rc70eab469537452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PITWALL</c:v>
          </c:tx>
          <c:spPr>
            <a:solidFill xmlns:a="http://schemas.openxmlformats.org/drawingml/2006/main">
              <a:srgbClr val="E6FC74"/>
            </a:solidFill>
          </c:spPr>
          <c:cat>
            <c:strRef>
              <c:f>'Chart Data'!$A$2:$A$3</c:f>
              <c:strCache>
                <c:ptCount val="2"/>
                <c:pt idx="0">
                  <c:v>Pace forecast</c:v>
                </c:pt>
                <c:pt idx="1">
                  <c:v>Rival-time forecast</c:v>
                </c:pt>
              </c:strCache>
            </c:strRef>
          </c:cat>
          <c:val>
            <c:numRef>
              <c:f>'Chart Data'!$B$2:$B$3</c:f>
              <c:numCache>
                <c:formatCode>0.0"s"</c:formatCode>
                <c:ptCount val="2"/>
                <c:pt idx="0">
                  <c:v>0.742818</c:v>
                </c:pt>
                <c:pt idx="1">
                  <c:v>2.197121</c:v>
                </c:pt>
              </c:numCache>
            </c:numRef>
          </c:val>
        </c:ser>
        <c:ser>
          <c:idx val="1"/>
          <c:order val="1"/>
          <c:tx>
            <c:v>Baseline</c:v>
          </c:tx>
          <c:spPr>
            <a:solidFill xmlns:a="http://schemas.openxmlformats.org/drawingml/2006/main">
              <a:srgbClr val="69776A"/>
            </a:solidFill>
          </c:spPr>
          <c:cat>
            <c:strRef>
              <c:f>'Chart Data'!$C$2:$C$3</c:f>
              <c:strCache>
                <c:ptCount val="2"/>
                <c:pt idx="0">
                  <c:v>Pace forecast</c:v>
                </c:pt>
                <c:pt idx="1">
                  <c:v>Rival-time forecast</c:v>
                </c:pt>
              </c:strCache>
            </c:strRef>
          </c:cat>
          <c:val>
            <c:numRef>
              <c:f>'Chart Data'!$D$2:$D$3</c:f>
              <c:numCache>
                <c:formatCode>0.0"s"</c:formatCode>
                <c:ptCount val="2"/>
                <c:pt idx="0">
                  <c:v>0.84365</c:v>
                </c:pt>
                <c:pt idx="1">
                  <c:v>2.441853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EDF0ED"/>
                  </a:solidFill>
                  <a:latin typeface="Bahnschrift"/>
                  <a:ea typeface="Bahnschrift"/>
                  <a:cs typeface="Bahnschrif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</a:p>
        </c:txPr>
        <c:crossAx val="48672768"/>
      </c:catAx>
      <c:valAx>
        <c:axId val="48672768"/>
        <c:scaling>
          <c:orientation val="minMax"/>
          <c:max val="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B352B"/>
              </a:solidFill>
            </a:ln>
          </c:spPr>
        </c:majorGridlines>
        <c:numFmt formatCode="0.0&quot;s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0A0E0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EDF0ED"/>
              </a:solidFill>
              <a:latin typeface="Bahnschrift"/>
              <a:ea typeface="Bahnschrift"/>
              <a:cs typeface="Bahnschrift"/>
            </a:defRPr>
          </a:pPr>
        </a:p>
      </c:txPr>
    </c:legend>
    <c:plotVisOnly val="1"/>
  </c:chart>
  <c:spPr>
    <a:solidFill xmlns:a="http://schemas.openxmlformats.org/drawingml/2006/main">
      <a:srgbClr val="0A0E0D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0A576-A7CD-4FA7-B207-C8C2E376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950" b="1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7950" b="1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PITWALL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2A563-EA07-4B10-B96E-49A06FB6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367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Tyre degradation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96B55-6088-44F8-9F24-DA22C71D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3000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Forecast the pace risk.</a:t>
            </a:r>
          </a:p>
          <a:p xmlns:a="http://schemas.openxmlformats.org/drawingml/2006/main">
            <a:pPr>
              <a:defRPr sz="3000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3000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Price the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C696F-BBF8-437C-968E-F8BF3FF0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72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Aditya &amp; Ruhani  /  TrackShift 2026</a:t>
            </a:r>
          </a:p>
        </p:txBody>
      </p:sp>
    </p:spTree>
    <p:extLst>
      <p:ext uri="{BB962C8B-B14F-4D97-AF65-F5344CB8AC3E}">
        <p14:creationId xmlns:p14="http://schemas.microsoft.com/office/powerpoint/2010/main" val="13264560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ADCC2-3015-4224-8E3D-6FB038DC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Tyre wear is hidden inside lap 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1F7D4-F467-4B46-A0B9-71594218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2700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Fuel  +  tyres  +  traffic  +  track evolution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740F0-7FE7-4F3B-BEE9-7C8B9941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925" b="0">
                <a:solidFill>
                  <a:srgbClr val="E4A06D"/>
                </a:solidFill>
                <a:latin typeface="Bahnschrift"/>
                <a:ea typeface="Bahnschrift"/>
                <a:cs typeface="Bahnschrift"/>
              </a:defRPr>
            </a:pPr>
            <a:r>
              <a:rPr sz="5925" b="0">
                <a:solidFill>
                  <a:srgbClr val="E4A06D"/>
                </a:solidFill>
                <a:latin typeface="Bahnschrift"/>
                <a:ea typeface="Bahnschrift"/>
                <a:cs typeface="Bahnschrift"/>
              </a:rPr>
              <a:t>−0.154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7F650-13B4-4D66-A6E0-3CC8671F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Naive HARD slope / s per lap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0110B-F905-4D21-BE8D-7F83A4AB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52725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925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5925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+0.063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D4E85-D480-470D-8670-B44BB6B1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052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After confounder correction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95168-4EF8-441C-B217-980C640E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100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A plausible practice curve still failed the race-transfer test.</a:t>
            </a:r>
          </a:p>
          <a:p xmlns:a="http://schemas.openxmlformats.org/drawingml/2006/main">
            <a:pPr>
              <a:defRPr sz="2100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100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We validate race forecasting and stop scenarios separately.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330D6-7A93-4B88-B55A-5C60785D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Historical research at tyre age 10; not a direct physical wear sensor.</a:t>
            </a:r>
          </a:p>
        </p:txBody>
      </p:sp>
    </p:spTree>
    <p:extLst>
      <p:ext uri="{BB962C8B-B14F-4D97-AF65-F5344CB8AC3E}">
        <p14:creationId xmlns:p14="http://schemas.microsoft.com/office/powerpoint/2010/main" val="10367431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9F786F-8898-4064-9138-E83C1504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Lock the forecast. Then reveal the lap.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0F792-B9DD-436F-91A4-63FADA2D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87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HUNGARY / NOR / LAP 25 → LAP 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91042-8B0E-4DC5-975B-8A0362A7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LOCKED FORECAST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7F1D8-3D3E-4526-98F4-1FC3EA59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4875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85.066s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4C6E7-9D6C-494B-8C74-47ED8981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003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ACTUAL LAP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58A5A-2755-43FF-84C1-0BA20159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57525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4875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85.071s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9CF62-FFE1-41BA-9F7D-313998AA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6003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ABSOLUTE ERROR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DB873-FE25-4AC7-842A-67D35AD2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057525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4875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0.005s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1BA70-8E5D-4E80-8E45-B4B0DE3F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Persistence error: 0.098s. The forecast stays fixed as replay advances.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7376E-C642-4E25-979E-E4E02B15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72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One historical example. The next benchmark includes every scored evaluation forecast.</a:t>
            </a:r>
          </a:p>
        </p:txBody>
      </p:sp>
    </p:spTree>
    <p:extLst>
      <p:ext uri="{BB962C8B-B14F-4D97-AF65-F5344CB8AC3E}">
        <p14:creationId xmlns:p14="http://schemas.microsoft.com/office/powerpoint/2010/main" val="5979032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A06A0B-6057-47FC-B236-E9333204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Traffic can erase the undercut margin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E7AFF-25BC-4DCB-BD55-210B92A4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217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3.95s tyre benefit − 0.08s rival pace − 1.50s gap − 0.70s warm-up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7D7EE-A3FF-40BF-9C36-AA963C8B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825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6825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+1.67s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044EC-F093-4684-8CE9-206FAED5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Central margin / clean rejoin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50134-DB32-4B42-9B76-6557F8B9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52750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825" b="0">
                <a:solidFill>
                  <a:srgbClr val="E4A06D"/>
                </a:solidFill>
                <a:latin typeface="Bahnschrift"/>
                <a:ea typeface="Bahnschrift"/>
                <a:cs typeface="Bahnschrift"/>
              </a:defRPr>
            </a:pPr>
            <a:r>
              <a:rPr sz="6825" b="0">
                <a:solidFill>
                  <a:srgbClr val="E4A06D"/>
                </a:solidFill>
                <a:latin typeface="Bahnschrift"/>
                <a:ea typeface="Bahnschrift"/>
                <a:cs typeface="Bahnschrift"/>
              </a:rPr>
              <a:t>-0.33s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999EF-BF4D-494D-945B-589CB17A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38625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With 2s of rejoin traffic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82E0E-E613-4AB2-95A2-EFD0B8C2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Both stress ranges cross zero. The tool exposes a fragile attack</a:t>
            </a:r>
          </a:p>
          <a:p xmlns:a="http://schemas.openxmlformats.org/drawingml/2006/main">
            <a:pPr>
              <a:def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instead of inventing a confident pit command.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09154-CB60-47A8-B3B5-1D40C612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Both cars stop; shared pit transit cancels. Costs and inventory require engineer input.</a:t>
            </a:r>
          </a:p>
        </p:txBody>
      </p:sp>
    </p:spTree>
    <p:extLst>
      <p:ext uri="{BB962C8B-B14F-4D97-AF65-F5344CB8AC3E}">
        <p14:creationId xmlns:p14="http://schemas.microsoft.com/office/powerpoint/2010/main" val="13591115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2BE9A-A5C7-48B3-8EA7-28DC34E7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Measured improvement against baselines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7810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9a38e47015471f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946DB-3974-40A9-9FB8-9470E179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33575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4950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12.0%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9091D-0047-4D41-9FA0-AC931EBF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860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1800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less pace RMSE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00378-5111-4E38-B48B-5D91EADB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14750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4950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10.0%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38972-5DB6-4717-B1BB-81906765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7677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1800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less rival-time RMSE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19E87-E7FB-4DEB-A782-1865DA9E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187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6,831 pace and 3,128 rival forecasts. Four reused evaluation races.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887BF-1CA1-45B1-997D-2D4B5AA5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Stop-step RMSE 0.757s vs 0.761s: too small a gain to claim optimal pit strategy.</a:t>
            </a:r>
          </a:p>
        </p:txBody>
      </p:sp>
    </p:spTree>
    <p:extLst>
      <p:ext uri="{BB962C8B-B14F-4D97-AF65-F5344CB8AC3E}">
        <p14:creationId xmlns:p14="http://schemas.microsoft.com/office/powerpoint/2010/main" val="20721927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19BF6-4E4F-46AE-872B-2D4A8247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A decision aid the engineer can inspect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CA183-0321-4A56-A7A9-4857F928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2550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01   Predict and verify the next laps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74982-2265-4C84-A8E7-D91E6A73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2550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02   Stress the undercut with traffic and rival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16E73-0405-4819-9574-53B89ED3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2550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03   Inspect the baseline, coverage and model 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D9302-174A-4B80-BD74-E52B57C5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Measured forecast advantage. Transparent strategy assumptions.</a:t>
            </a:r>
          </a:p>
          <a:p xmlns:a="http://schemas.openxmlformats.org/drawingml/2006/main">
            <a:pPr>
              <a:def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Grounded engineer briefing. Offline replay.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F4F14-6756-4CE3-B99C-20689CE3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72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Open the app → Present to jury</a:t>
            </a:r>
          </a:p>
        </p:txBody>
      </p:sp>
    </p:spTree>
    <p:extLst>
      <p:ext uri="{BB962C8B-B14F-4D97-AF65-F5344CB8AC3E}">
        <p14:creationId xmlns:p14="http://schemas.microsoft.com/office/powerpoint/2010/main" val="8429422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2026-09-12T18:10:11.1320000Z</dcterms:created>
  <dcterms:modified xsi:type="dcterms:W3CDTF">2026-09-12T18:10:11.1320000Z</dcterms:modified>
</coreProperties>
</file>