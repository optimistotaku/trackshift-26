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cbc671169448b" /><Relationship Type="http://schemas.openxmlformats.org/officeDocument/2006/relationships/extended-properties" Target="/docProps/app.xml" Id="R2fd5fdd3151d4ad2" /><Relationship Type="http://schemas.openxmlformats.org/officeDocument/2006/relationships/officeDocument" Target="/ppt/presentation.xml" Id="Rb9c8d6276d49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a50d97ea04cde"/>
  </p:sldMasterIdLst>
  <p:notesMasterIdLst>
    <p:notesMasterId xmlns:r="http://schemas.openxmlformats.org/officeDocument/2006/relationships" r:id="Rbcac28f8e7104b58"/>
  </p:notesMasterIdLst>
  <p:sldIdLst>
    <p:sldId xmlns:r="http://schemas.openxmlformats.org/officeDocument/2006/relationships" id="256" r:id="R3d44dbdd55c74e61"/>
    <p:sldId xmlns:r="http://schemas.openxmlformats.org/officeDocument/2006/relationships" id="257" r:id="R7031068987ea4214"/>
    <p:sldId xmlns:r="http://schemas.openxmlformats.org/officeDocument/2006/relationships" id="258" r:id="R0cd41556736e47d2"/>
    <p:sldId xmlns:r="http://schemas.openxmlformats.org/officeDocument/2006/relationships" id="259" r:id="Rb50d7597486544ce"/>
    <p:sldId xmlns:r="http://schemas.openxmlformats.org/officeDocument/2006/relationships" id="260" r:id="Rc5be34ad776949c0"/>
    <p:sldId xmlns:r="http://schemas.openxmlformats.org/officeDocument/2006/relationships" id="261" r:id="R4cefe73d73d546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42b263dc694b97" /><Relationship Type="http://schemas.openxmlformats.org/officeDocument/2006/relationships/slideMaster" Target="/ppt/slideMasters/slideMaster1.xml" Id="Rdc7a50d97ea04cde" /><Relationship Type="http://schemas.openxmlformats.org/officeDocument/2006/relationships/notesMaster" Target="/ppt/notesMasters/notesMaster1.xml" Id="Rbcac28f8e7104b58" /><Relationship Type="http://schemas.openxmlformats.org/officeDocument/2006/relationships/presProps" Target="/ppt/presProps.xml" Id="Re484fbafe6674960" /><Relationship Type="http://schemas.openxmlformats.org/officeDocument/2006/relationships/tableStyles" Target="/ppt/tableStyles.xml" Id="R16d04aa93ab641cc" /><Relationship Type="http://schemas.openxmlformats.org/officeDocument/2006/relationships/slide" Target="/ppt/slides/slide1.xml" Id="R3d44dbdd55c74e61" /><Relationship Type="http://schemas.openxmlformats.org/officeDocument/2006/relationships/slide" Target="/ppt/slides/slide2.xml" Id="R7031068987ea4214" /><Relationship Type="http://schemas.openxmlformats.org/officeDocument/2006/relationships/slide" Target="/ppt/slides/slide3.xml" Id="R0cd41556736e47d2" /><Relationship Type="http://schemas.openxmlformats.org/officeDocument/2006/relationships/slide" Target="/ppt/slides/slide4.xml" Id="Rb50d7597486544ce" /><Relationship Type="http://schemas.openxmlformats.org/officeDocument/2006/relationships/slide" Target="/ppt/slides/slide5.xml" Id="Rc5be34ad776949c0" /><Relationship Type="http://schemas.openxmlformats.org/officeDocument/2006/relationships/slide" Target="/ppt/slides/slide6.xml" Id="R4cefe73d73d546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25fe45eb79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77e1ae0ea94a18" /><Relationship Type="http://schemas.openxmlformats.org/officeDocument/2006/relationships/notesMaster" Target="/ppt/notesMasters/notesMaster1.xml" Id="Rf8741a9c6484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c2b0408774046" /><Relationship Type="http://schemas.openxmlformats.org/officeDocument/2006/relationships/notesMaster" Target="/ppt/notesMasters/notesMaster1.xml" Id="Re0dfeffb124049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73228899734ec8" /><Relationship Type="http://schemas.openxmlformats.org/officeDocument/2006/relationships/notesMaster" Target="/ppt/notesMasters/notesMaster1.xml" Id="R9f207d563f97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d74597a07f450d" /><Relationship Type="http://schemas.openxmlformats.org/officeDocument/2006/relationships/notesMaster" Target="/ppt/notesMasters/notesMaster1.xml" Id="R7e5e315e0c7b43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625172f424109" /><Relationship Type="http://schemas.openxmlformats.org/officeDocument/2006/relationships/notesMaster" Target="/ppt/notesMasters/notesMaster1.xml" Id="R8568a22234e84f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1d6ec39b14b81" /><Relationship Type="http://schemas.openxmlformats.org/officeDocument/2006/relationships/notesMaster" Target="/ppt/notesMasters/notesMaster1.xml" Id="Rf8012b12d014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PITWALL / TrackShift 2026. Present the app using Present to jury. This deck accompanies the working local demo; all metrics come from artifacts/demo/intelligence/*.json. Do not claim a validated optimal pit lap or places gained.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artifacts/demo/model.json → degradation_curves.practice.compounds.HARD. Slopes evaluated at tyre age 10. Historical research artifacts predate the replay traffic correction. The practice-to-race transfer failed; these are identification evidence, not deployed physical wear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artifacts/demo/intelligence/R11.json. Snapshot NOR / lap 25 / horizon 3; target lap 28. Demo example uses the pre-existing default cursor, not a search for best error. Prediction 85.066332; actual 85.071; persistence 84.973. One example is not an accuracy claim. In app: Present to jury → Predict &amp; verify → Advance to lap 28 &amp;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artifacts/demo/intelligence/R11.json stop_scenarios.HARD and battles[horizon=3] at NOR lap25. Scenario: 1.5s gap, 0.7s warm-up, equal service, zero extra degradation, both cars stop. Central margin = 3*1.315561 - 0.078218 -1.5 -0.7 =1.668465s. Adding 2s total rejoin traffic gives -0.331535s. Combined stress radius =3*2.032157 +2.497010 =8.593481s. Conditional arithmetic, no validated overtake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artifacts/demo/intelligence/report.json and battle_report.json. Pace RMSE on 6831 forecasts; relative-time RMSE on3128 forecasts. All later-race results use earlier-race fits. Architectures selected using development events; R09-R12 are reused evaluation events. Forecasts assume same-stint green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application demo_fallback/index.html; docs/JURY_PRESENTATION.md; artifacts/demo/intelligence/*.json. Use the app four-chapter walkthrough. Strong claims are forecast accuracy and inspectable scenario arithmetic; physical tyre life, actual race time saved and positions won remain unproven.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917eae7be4c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f247b29a95482c" /><Relationship Type="http://schemas.openxmlformats.org/officeDocument/2006/relationships/slideLayout" Target="/ppt/slideLayouts/slideLayout1.xml" Id="R6a361d13c346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361d13c346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a7b54d811438b" /><Relationship Type="http://schemas.openxmlformats.org/officeDocument/2006/relationships/notesSlide" Target="/ppt/notesSlides/notesSlide1.xml" Id="R46d54dddb758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1f217a6a4bd0" /><Relationship Type="http://schemas.openxmlformats.org/officeDocument/2006/relationships/notesSlide" Target="/ppt/notesSlides/notesSlide2.xml" Id="R28ee17c9877e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acfcecf049c0" /><Relationship Type="http://schemas.openxmlformats.org/officeDocument/2006/relationships/notesSlide" Target="/ppt/notesSlides/notesSlide3.xml" Id="Ra2e24c483ae64a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29b83eb6a43b4" /><Relationship Type="http://schemas.openxmlformats.org/officeDocument/2006/relationships/notesSlide" Target="/ppt/notesSlides/notesSlide4.xml" Id="Re1be7a6d39a343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a7d79776e460a" /><Relationship Type="http://schemas.openxmlformats.org/officeDocument/2006/relationships/chart" Target="/ppt/slides/charts/chart1.xml" Id="Rc4c094a917434465" /><Relationship Type="http://schemas.openxmlformats.org/officeDocument/2006/relationships/notesSlide" Target="/ppt/notesSlides/notesSlide5.xml" Id="R9ece5c577e3844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27c5bb511466f" /><Relationship Type="http://schemas.openxmlformats.org/officeDocument/2006/relationships/notesSlide" Target="/ppt/notesSlides/notesSlide6.xml" Id="R50e7d797232146b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PITWALL</c:v>
          </c:tx>
          <c:spPr>
            <a:solidFill xmlns:a="http://schemas.openxmlformats.org/drawingml/2006/main">
              <a:srgbClr val="E6FC74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0.743s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2.197s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Data'!$B$2:$B$3</c:f>
              <c:numCache>
                <c:formatCode>0.0"s"</c:formatCode>
                <c:ptCount val="2"/>
                <c:pt idx="0">
                  <c:v>0.742818</c:v>
                </c:pt>
                <c:pt idx="1">
                  <c:v>2.197121</c:v>
                </c:pt>
              </c:numCache>
            </c:numRef>
          </c:val>
        </c:ser>
        <c:ser>
          <c:idx val="1"/>
          <c:order val="1"/>
          <c:tx>
            <c:v>Baseline</c:v>
          </c:tx>
          <c:spPr>
            <a:solidFill xmlns:a="http://schemas.openxmlformats.org/drawingml/2006/main">
              <a:srgbClr val="69776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0.844s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2.442s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Data'!$D$2:$D$3</c:f>
              <c:numCache>
                <c:formatCode>0.0"s"</c:formatCode>
                <c:ptCount val="2"/>
                <c:pt idx="0">
                  <c:v>0.84365</c:v>
                </c:pt>
                <c:pt idx="1">
                  <c:v>2.441853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EDF0ED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352B"/>
              </a:solidFill>
            </a:ln>
          </c:spPr>
        </c:majorGridlines>
        <c:numFmt formatCode="0.0&quot;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A0E0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EDF0ED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0A0E0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7BAD4-58F6-4DAA-A6FD-B1FC2693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PITWALL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4A9F6-6041-424E-88FC-59E66627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degradation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1563A-E3A4-4B31-9E5F-0A4F8EDD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Forecast the pace risk.</a:t>
            </a:r>
          </a:p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Price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7516B-0015-4E0D-AAAC-ABCEFA08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Aditya &amp; Ruhani  /  TrackShift 2026</a:t>
            </a:r>
          </a:p>
        </p:txBody>
      </p:sp>
    </p:spTree>
    <p:extLst>
      <p:ext uri="{BB962C8B-B14F-4D97-AF65-F5344CB8AC3E}">
        <p14:creationId xmlns:p14="http://schemas.microsoft.com/office/powerpoint/2010/main" val="2018847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D66B4-575F-4700-B9B1-A0DBA4A8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wear is hidden inside lap 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57FBB-361A-4ED3-BE34-3768977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Fuel  +  tyres  +  traffic  +  track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871C2-F4A2-4DB1-86CE-8F17135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−0.154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C5DAD-0D78-4456-8C28-5F0438B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Naive HARD slope / s per 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A3478-644D-4C46-9E8C-133DCEEE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+0.063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D7D82-FD75-4B44-98F3-BCD7283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After confounder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E98A5-5913-4319-9736-8943AEA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plausible practice curve still failed the race-transfer test.</a:t>
            </a:r>
          </a:p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We validate race forecasting and stop scenarios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21472-BB8C-47A5-A15B-C0582172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Historical research at tyre age 10; not a direct physical wear sensor.</a:t>
            </a:r>
          </a:p>
        </p:txBody>
      </p:sp>
    </p:spTree>
    <p:extLst>
      <p:ext uri="{BB962C8B-B14F-4D97-AF65-F5344CB8AC3E}">
        <p14:creationId xmlns:p14="http://schemas.microsoft.com/office/powerpoint/2010/main" val="1398968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8E2E9-B610-4809-B48D-FF60617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Lock the forecast. Then reveal the lap.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32715-B697-4671-88D7-62DCE62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HUNGARY / NOR / LAP 25 → LAP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F5772-9023-4ECA-B391-2BA8D510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LOCKED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36294-D433-4AB6-B0BC-27B67A9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85.066s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ED37-B600-47E1-B256-CB21830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ACTUAL 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C54E2-17D3-4A1F-BE29-C6A44F91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85.071s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ECA9E-0CA1-48F8-BCDE-6F6E546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ABSOLUTE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935E3-F08A-4CB8-91D6-C7C50819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0.005s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DEAE7-A908-4D01-B627-F821383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Persistence error: 0.098s. The forecast stays fixed as replay advances.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8709D-5019-44C2-ABC5-60BBB57F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One historical example. The next benchmark includes every scored evaluation forecast.</a:t>
            </a:r>
          </a:p>
        </p:txBody>
      </p:sp>
    </p:spTree>
    <p:extLst>
      <p:ext uri="{BB962C8B-B14F-4D97-AF65-F5344CB8AC3E}">
        <p14:creationId xmlns:p14="http://schemas.microsoft.com/office/powerpoint/2010/main" val="399201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2D6C8-ECFE-4638-8E40-004D50E3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Traffic can erase the undercut margin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950D5-2942-4CE9-A5B4-A1F18C7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3.95s tyre benefit − 0.08s rival pace − 1.50s gap − 0.70s warm-up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8AA08-81D3-406B-A402-1010BE4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+1.67s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B98F1-564D-43C5-B57E-00D3615F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Central margin / clean rejoin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3DAAF-9E15-47D6-9346-9B83DC7C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-0.33s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F4CB9-6046-4CA7-BC51-FA9FDFB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With 2s of rejoin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267B5-23BD-427E-8212-5E5814DD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Both stress ranges cross zero. The tool exposes a fragile attack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instead of inventing a confident pit command.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F8536-A581-441E-8082-33E7132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Both cars stop; shared pit transit cancels. Costs and inventory require engineer input.</a:t>
            </a:r>
          </a:p>
        </p:txBody>
      </p:sp>
    </p:spTree>
    <p:extLst>
      <p:ext uri="{BB962C8B-B14F-4D97-AF65-F5344CB8AC3E}">
        <p14:creationId xmlns:p14="http://schemas.microsoft.com/office/powerpoint/2010/main" val="943952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7AC4-EE7F-4695-8A55-7F7C519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improvement against baselines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c094a91743446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64544-B41A-4FCD-BD4A-E7B703E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335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12.0%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32C24-3EC5-44DF-9396-FE1E0FE6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pace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0BADC-4697-4F3A-8453-1C07926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C774D-5FC0-494D-A7FD-F5508BC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767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rival-time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4520-C0F1-4C75-845F-8133971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6,831 pace and 3,128 rival forecasts. Four reused evaluation races.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0166F-6896-42A3-B4B6-3650E7B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Stop-step RMSE 0.757s vs 0.761s: too small a gain to claim optimal pit strategy.</a:t>
            </a:r>
          </a:p>
        </p:txBody>
      </p:sp>
    </p:spTree>
    <p:extLst>
      <p:ext uri="{BB962C8B-B14F-4D97-AF65-F5344CB8AC3E}">
        <p14:creationId xmlns:p14="http://schemas.microsoft.com/office/powerpoint/2010/main" val="104315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3FDA7-5C40-4700-A972-6A06AD3B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decision aid the engineer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14DF-A2FE-4FA8-A214-9D76BB9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01   Predict and verify the next laps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B1DDB-9599-4B9F-8D60-A26BEA86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02   Stress the undercut with traffic and rival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40D65-9967-4C1D-BB59-A70916D6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03   Inspect the baseline, coverage and model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8A045-A3C7-4196-902F-4BA363E8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forecast advantage. Transparent strategy assumptions.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Grounded engineer briefing. Offline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1D62D-A95B-486E-AA91-C7768AB3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Open the app → Present to jury</a:t>
            </a:r>
          </a:p>
        </p:txBody>
      </p:sp>
    </p:spTree>
    <p:extLst>
      <p:ext uri="{BB962C8B-B14F-4D97-AF65-F5344CB8AC3E}">
        <p14:creationId xmlns:p14="http://schemas.microsoft.com/office/powerpoint/2010/main" val="943953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2026-09-12T18:15:18.0230000Z</dcterms:created>
  <dcterms:modified xsi:type="dcterms:W3CDTF">2026-09-12T18:15:18.0230000Z</dcterms:modified>
</coreProperties>
</file>